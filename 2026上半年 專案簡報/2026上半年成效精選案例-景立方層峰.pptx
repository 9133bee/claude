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4" r:id="rId9"/>
    <p:sldId id="265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78D6"/>
    <a:srgbClr val="E06B4A"/>
    <a:srgbClr val="1BAF7A"/>
    <a:srgbClr val="30B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55" autoAdjust="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altLang="en-US" sz="1300" b="1">
                <a:solidFill>
                  <a:srgbClr val="0B0B0B"/>
                </a:solidFill>
              </a:rPr>
              <a:t>每組潛客成本 </a:t>
            </a:r>
            <a:r>
              <a:rPr lang="en-US" altLang="zh-TW" sz="1300" b="1">
                <a:solidFill>
                  <a:srgbClr val="0B0B0B"/>
                </a:solidFill>
              </a:rPr>
              <a:t>CPL </a:t>
            </a:r>
            <a:r>
              <a:rPr lang="zh-TW" altLang="en-US" sz="1300" b="1">
                <a:solidFill>
                  <a:srgbClr val="0B0B0B"/>
                </a:solidFill>
              </a:rPr>
              <a:t>對照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CPL (NT$)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A78D6"/>
              </a:solidFill>
            </c:spPr>
            <c:extLst>
              <c:ext xmlns:c16="http://schemas.microsoft.com/office/drawing/2014/chart" uri="{C3380CC4-5D6E-409C-BE32-E72D297353CC}">
                <c16:uniqueId val="{00000001-888E-4260-93F5-B4EFFCA8B97C}"/>
              </c:ext>
            </c:extLst>
          </c:dPt>
          <c:dPt>
            <c:idx val="1"/>
            <c:invertIfNegative val="1"/>
            <c:bubble3D val="0"/>
            <c:spPr>
              <a:solidFill>
                <a:srgbClr val="E06B4A"/>
              </a:solidFill>
            </c:spPr>
            <c:extLst>
              <c:ext xmlns:c16="http://schemas.microsoft.com/office/drawing/2014/chart" uri="{C3380CC4-5D6E-409C-BE32-E72D297353CC}">
                <c16:uniqueId val="{00000003-888E-4260-93F5-B4EFFCA8B97C}"/>
              </c:ext>
            </c:extLst>
          </c:dPt>
          <c:dLbls>
            <c:numFmt formatCode="&quot;NT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B0B0B"/>
                    </a:solidFill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主粉專 (Before)</c:v>
                </c:pt>
                <c:pt idx="1">
                  <c:v>副粉專 (After)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1055</c:v>
                </c:pt>
                <c:pt idx="1">
                  <c:v>394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88E-4260-93F5-B4EFFCA8B9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10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副粉專 CPL (NT$)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8"/>
            <c:spPr>
              <a:solidFill>
                <a:srgbClr val="E06B4A"/>
              </a:solidFill>
              <a:ln>
                <a:solidFill>
                  <a:srgbClr val="2A78D6"/>
                </a:solidFill>
              </a:ln>
            </c:spPr>
          </c:marker>
          <c:dPt>
            <c:idx val="0"/>
            <c:bubble3D val="0"/>
            <c:spPr>
              <a:ln>
                <a:solidFill>
                  <a:srgbClr val="2A78D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A92-4938-A5EF-6A1A6C9643C9}"/>
              </c:ext>
            </c:extLst>
          </c:dPt>
          <c:dPt>
            <c:idx val="1"/>
            <c:bubble3D val="0"/>
            <c:spPr>
              <a:ln>
                <a:solidFill>
                  <a:srgbClr val="2A78D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A92-4938-A5EF-6A1A6C9643C9}"/>
              </c:ext>
            </c:extLst>
          </c:dPt>
          <c:dPt>
            <c:idx val="2"/>
            <c:bubble3D val="0"/>
            <c:spPr>
              <a:ln>
                <a:solidFill>
                  <a:srgbClr val="2A78D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A92-4938-A5EF-6A1A6C9643C9}"/>
              </c:ext>
            </c:extLst>
          </c:dPt>
          <c:dPt>
            <c:idx val="3"/>
            <c:bubble3D val="0"/>
            <c:spPr>
              <a:ln>
                <a:solidFill>
                  <a:srgbClr val="2A78D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AA92-4938-A5EF-6A1A6C9643C9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E06B4A"/>
                    </a:solidFill>
                    <a:latin typeface="Microsoft JhengHei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4/10–5/03</c:v>
                </c:pt>
                <c:pt idx="1">
                  <c:v>5/04–5/25</c:v>
                </c:pt>
                <c:pt idx="2">
                  <c:v>5/26–6/25</c:v>
                </c:pt>
                <c:pt idx="3">
                  <c:v>6/26–7/21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182</c:v>
                </c:pt>
                <c:pt idx="1">
                  <c:v>692</c:v>
                </c:pt>
                <c:pt idx="2">
                  <c:v>502</c:v>
                </c:pt>
                <c:pt idx="3">
                  <c:v>317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E6-417C-95B8-621136BD149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FE2E6"/>
            </a:solidFill>
          </a:ln>
        </c:spPr>
        <c:txPr>
          <a:bodyPr/>
          <a:lstStyle/>
          <a:p>
            <a:pPr>
              <a:defRPr sz="1050">
                <a:solidFill>
                  <a:srgbClr val="898781"/>
                </a:solidFill>
                <a:latin typeface="Microsoft JhengHei"/>
              </a:defRPr>
            </a:pPr>
            <a:endParaRPr lang="zh-TW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8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altLang="en-US" sz="1400" b="1" dirty="0">
                <a:latin typeface="Microsoft JhengHei"/>
                <a:ea typeface="Microsoft JhengHei"/>
              </a:rPr>
              <a:t>全案</a:t>
            </a:r>
            <a:r>
              <a:rPr lang="en-US" altLang="zh-TW" sz="1400" b="1" dirty="0">
                <a:latin typeface="Microsoft JhengHei"/>
                <a:ea typeface="Microsoft JhengHei"/>
              </a:rPr>
              <a:t>83</a:t>
            </a:r>
            <a:r>
              <a:rPr lang="zh-TW" altLang="en-US" sz="1400" b="1" dirty="0">
                <a:latin typeface="Microsoft JhengHei"/>
                <a:ea typeface="Microsoft JhengHei"/>
              </a:rPr>
              <a:t>組受眾頻率分布（包含無名單數者）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受眾組合數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A78D6"/>
              </a:solidFill>
            </c:spPr>
            <c:extLst>
              <c:ext xmlns:c16="http://schemas.microsoft.com/office/drawing/2014/chart" uri="{C3380CC4-5D6E-409C-BE32-E72D297353CC}">
                <c16:uniqueId val="{00000001-812D-4480-AEC0-C2A6F27AE967}"/>
              </c:ext>
            </c:extLst>
          </c:dPt>
          <c:dPt>
            <c:idx val="1"/>
            <c:invertIfNegative val="1"/>
            <c:bubble3D val="0"/>
            <c:spPr>
              <a:solidFill>
                <a:srgbClr val="2A78D6"/>
              </a:solidFill>
            </c:spPr>
            <c:extLst>
              <c:ext xmlns:c16="http://schemas.microsoft.com/office/drawing/2014/chart" uri="{C3380CC4-5D6E-409C-BE32-E72D297353CC}">
                <c16:uniqueId val="{00000003-812D-4480-AEC0-C2A6F27AE967}"/>
              </c:ext>
            </c:extLst>
          </c:dPt>
          <c:dPt>
            <c:idx val="2"/>
            <c:invertIfNegative val="1"/>
            <c:bubble3D val="0"/>
            <c:spPr>
              <a:solidFill>
                <a:srgbClr val="2A78D6"/>
              </a:solidFill>
            </c:spPr>
            <c:extLst>
              <c:ext xmlns:c16="http://schemas.microsoft.com/office/drawing/2014/chart" uri="{C3380CC4-5D6E-409C-BE32-E72D297353CC}">
                <c16:uniqueId val="{00000005-812D-4480-AEC0-C2A6F27AE967}"/>
              </c:ext>
            </c:extLst>
          </c:dPt>
          <c:dPt>
            <c:idx val="3"/>
            <c:invertIfNegative val="1"/>
            <c:bubble3D val="0"/>
            <c:spPr>
              <a:solidFill>
                <a:srgbClr val="E06B4A"/>
              </a:solidFill>
            </c:spPr>
            <c:extLst>
              <c:ext xmlns:c16="http://schemas.microsoft.com/office/drawing/2014/chart" uri="{C3380CC4-5D6E-409C-BE32-E72D297353CC}">
                <c16:uniqueId val="{00000007-812D-4480-AEC0-C2A6F27AE967}"/>
              </c:ext>
            </c:extLst>
          </c:dPt>
          <c:dPt>
            <c:idx val="4"/>
            <c:invertIfNegative val="1"/>
            <c:bubble3D val="0"/>
            <c:spPr>
              <a:solidFill>
                <a:srgbClr val="E06B4A"/>
              </a:solidFill>
            </c:spPr>
            <c:extLst>
              <c:ext xmlns:c16="http://schemas.microsoft.com/office/drawing/2014/chart" uri="{C3380CC4-5D6E-409C-BE32-E72D297353CC}">
                <c16:uniqueId val="{00000009-812D-4480-AEC0-C2A6F27AE967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latin typeface="Microsoft JhengHei"/>
                    <a:ea typeface="Microsoft JhengHe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1.0–1.5</c:v>
                </c:pt>
                <c:pt idx="1">
                  <c:v>1.5–2.0</c:v>
                </c:pt>
                <c:pt idx="2">
                  <c:v>2.0–2.5</c:v>
                </c:pt>
                <c:pt idx="3">
                  <c:v>2.5–3.0(警戒)</c:v>
                </c:pt>
                <c:pt idx="4">
                  <c:v>3.0以上(疲乏)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</c:v>
                </c:pt>
                <c:pt idx="1">
                  <c:v>19</c:v>
                </c:pt>
                <c:pt idx="2">
                  <c:v>7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2D-4480-AEC0-C2A6F27AE9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CD2"/>
            </a:solidFill>
          </a:ln>
        </c:spPr>
        <c:txPr>
          <a:bodyPr/>
          <a:lstStyle/>
          <a:p>
            <a:pPr>
              <a:defRPr sz="1200">
                <a:solidFill>
                  <a:srgbClr val="898781"/>
                </a:solidFill>
                <a:latin typeface="Microsoft JhengHei"/>
                <a:ea typeface="Microsoft JhengHei"/>
              </a:defRPr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altLang="en-US" sz="1400" b="1">
                <a:latin typeface="Microsoft JhengHei"/>
                <a:ea typeface="Microsoft JhengHei"/>
              </a:rPr>
              <a:t>總經費型 </a:t>
            </a:r>
            <a:r>
              <a:rPr lang="en-US" altLang="zh-TW" sz="1400" b="1">
                <a:latin typeface="Microsoft JhengHei"/>
                <a:ea typeface="Microsoft JhengHei"/>
              </a:rPr>
              <a:t>vs </a:t>
            </a:r>
            <a:r>
              <a:rPr lang="zh-TW" altLang="en-US" sz="1400" b="1">
                <a:latin typeface="Microsoft JhengHei"/>
                <a:ea typeface="Microsoft JhengHei"/>
              </a:rPr>
              <a:t>每日型，每組受眾各自的 </a:t>
            </a:r>
            <a:r>
              <a:rPr lang="en-US" altLang="zh-TW" sz="1400" b="1">
                <a:latin typeface="Microsoft JhengHei"/>
                <a:ea typeface="Microsoft JhengHei"/>
              </a:rPr>
              <a:t>CPL</a:t>
            </a:r>
            <a:r>
              <a:rPr lang="zh-TW" altLang="en-US" sz="1400" b="1">
                <a:latin typeface="Microsoft JhengHei"/>
                <a:ea typeface="Microsoft JhengHei"/>
              </a:rPr>
              <a:t>（由低到高排序）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CPL (NT$)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58B-4611-8B9C-455F47C0758B}"/>
              </c:ext>
            </c:extLst>
          </c:dPt>
          <c:dPt>
            <c:idx val="1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58B-4611-8B9C-455F47C0758B}"/>
              </c:ext>
            </c:extLst>
          </c:dPt>
          <c:dPt>
            <c:idx val="2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58B-4611-8B9C-455F47C0758B}"/>
              </c:ext>
            </c:extLst>
          </c:dPt>
          <c:dPt>
            <c:idx val="3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58B-4611-8B9C-455F47C0758B}"/>
              </c:ext>
            </c:extLst>
          </c:dPt>
          <c:dPt>
            <c:idx val="4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C58B-4611-8B9C-455F47C0758B}"/>
              </c:ext>
            </c:extLst>
          </c:dPt>
          <c:dPt>
            <c:idx val="5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C58B-4611-8B9C-455F47C0758B}"/>
              </c:ext>
            </c:extLst>
          </c:dPt>
          <c:dPt>
            <c:idx val="6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C58B-4611-8B9C-455F47C0758B}"/>
              </c:ext>
            </c:extLst>
          </c:dPt>
          <c:dPt>
            <c:idx val="7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C58B-4611-8B9C-455F47C0758B}"/>
              </c:ext>
            </c:extLst>
          </c:dPt>
          <c:dPt>
            <c:idx val="8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C58B-4611-8B9C-455F47C0758B}"/>
              </c:ext>
            </c:extLst>
          </c:dPt>
          <c:dPt>
            <c:idx val="9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C58B-4611-8B9C-455F47C0758B}"/>
              </c:ext>
            </c:extLst>
          </c:dPt>
          <c:dPt>
            <c:idx val="10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C58B-4611-8B9C-455F47C0758B}"/>
              </c:ext>
            </c:extLst>
          </c:dPt>
          <c:dPt>
            <c:idx val="11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C58B-4611-8B9C-455F47C0758B}"/>
              </c:ext>
            </c:extLst>
          </c:dPt>
          <c:dPt>
            <c:idx val="12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C58B-4611-8B9C-455F47C0758B}"/>
              </c:ext>
            </c:extLst>
          </c:dPt>
          <c:dPt>
            <c:idx val="13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C58B-4611-8B9C-455F47C0758B}"/>
              </c:ext>
            </c:extLst>
          </c:dPt>
          <c:dPt>
            <c:idx val="14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C58B-4611-8B9C-455F47C0758B}"/>
              </c:ext>
            </c:extLst>
          </c:dPt>
          <c:dPt>
            <c:idx val="15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C58B-4611-8B9C-455F47C0758B}"/>
              </c:ext>
            </c:extLst>
          </c:dPt>
          <c:dPt>
            <c:idx val="16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C58B-4611-8B9C-455F47C0758B}"/>
              </c:ext>
            </c:extLst>
          </c:dPt>
          <c:dPt>
            <c:idx val="17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C58B-4611-8B9C-455F47C0758B}"/>
              </c:ext>
            </c:extLst>
          </c:dPt>
          <c:dPt>
            <c:idx val="18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C58B-4611-8B9C-455F47C0758B}"/>
              </c:ext>
            </c:extLst>
          </c:dPt>
          <c:dPt>
            <c:idx val="19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C58B-4611-8B9C-455F47C0758B}"/>
              </c:ext>
            </c:extLst>
          </c:dPt>
          <c:dPt>
            <c:idx val="20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9-C58B-4611-8B9C-455F47C0758B}"/>
              </c:ext>
            </c:extLst>
          </c:dPt>
          <c:dPt>
            <c:idx val="21"/>
            <c:invertIfNegative val="1"/>
            <c:bubble3D val="0"/>
            <c:spPr>
              <a:solidFill>
                <a:srgbClr val="2A78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B-C58B-4611-8B9C-455F47C0758B}"/>
              </c:ext>
            </c:extLst>
          </c:dPt>
          <c:dPt>
            <c:idx val="22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D-C58B-4611-8B9C-455F47C0758B}"/>
              </c:ext>
            </c:extLst>
          </c:dPt>
          <c:dPt>
            <c:idx val="23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F-C58B-4611-8B9C-455F47C0758B}"/>
              </c:ext>
            </c:extLst>
          </c:dPt>
          <c:dPt>
            <c:idx val="24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1-C58B-4611-8B9C-455F47C0758B}"/>
              </c:ext>
            </c:extLst>
          </c:dPt>
          <c:dPt>
            <c:idx val="25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3-C58B-4611-8B9C-455F47C0758B}"/>
              </c:ext>
            </c:extLst>
          </c:dPt>
          <c:dPt>
            <c:idx val="26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5-C58B-4611-8B9C-455F47C0758B}"/>
              </c:ext>
            </c:extLst>
          </c:dPt>
          <c:dPt>
            <c:idx val="27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7-C58B-4611-8B9C-455F47C0758B}"/>
              </c:ext>
            </c:extLst>
          </c:dPt>
          <c:dPt>
            <c:idx val="28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9-C58B-4611-8B9C-455F47C0758B}"/>
              </c:ext>
            </c:extLst>
          </c:dPt>
          <c:dPt>
            <c:idx val="29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B-C58B-4611-8B9C-455F47C0758B}"/>
              </c:ext>
            </c:extLst>
          </c:dPt>
          <c:dPt>
            <c:idx val="30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D-C58B-4611-8B9C-455F47C0758B}"/>
              </c:ext>
            </c:extLst>
          </c:dPt>
          <c:dPt>
            <c:idx val="31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F-C58B-4611-8B9C-455F47C0758B}"/>
              </c:ext>
            </c:extLst>
          </c:dPt>
          <c:dPt>
            <c:idx val="32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1-C58B-4611-8B9C-455F47C0758B}"/>
              </c:ext>
            </c:extLst>
          </c:dPt>
          <c:dPt>
            <c:idx val="33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3-C58B-4611-8B9C-455F47C0758B}"/>
              </c:ext>
            </c:extLst>
          </c:dPt>
          <c:dPt>
            <c:idx val="34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5-C58B-4611-8B9C-455F47C0758B}"/>
              </c:ext>
            </c:extLst>
          </c:dPt>
          <c:dPt>
            <c:idx val="35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7-C58B-4611-8B9C-455F47C0758B}"/>
              </c:ext>
            </c:extLst>
          </c:dPt>
          <c:dPt>
            <c:idx val="36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9-C58B-4611-8B9C-455F47C0758B}"/>
              </c:ext>
            </c:extLst>
          </c:dPt>
          <c:dPt>
            <c:idx val="37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B-C58B-4611-8B9C-455F47C0758B}"/>
              </c:ext>
            </c:extLst>
          </c:dPt>
          <c:dPt>
            <c:idx val="38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D-C58B-4611-8B9C-455F47C0758B}"/>
              </c:ext>
            </c:extLst>
          </c:dPt>
          <c:dPt>
            <c:idx val="39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F-C58B-4611-8B9C-455F47C0758B}"/>
              </c:ext>
            </c:extLst>
          </c:dPt>
          <c:dPt>
            <c:idx val="40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1-C58B-4611-8B9C-455F47C0758B}"/>
              </c:ext>
            </c:extLst>
          </c:dPt>
          <c:dPt>
            <c:idx val="41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3-C58B-4611-8B9C-455F47C0758B}"/>
              </c:ext>
            </c:extLst>
          </c:dPt>
          <c:dPt>
            <c:idx val="42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5-C58B-4611-8B9C-455F47C0758B}"/>
              </c:ext>
            </c:extLst>
          </c:dPt>
          <c:dPt>
            <c:idx val="43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7-C58B-4611-8B9C-455F47C0758B}"/>
              </c:ext>
            </c:extLst>
          </c:dPt>
          <c:dPt>
            <c:idx val="44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9-C58B-4611-8B9C-455F47C0758B}"/>
              </c:ext>
            </c:extLst>
          </c:dPt>
          <c:dPt>
            <c:idx val="45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B-C58B-4611-8B9C-455F47C0758B}"/>
              </c:ext>
            </c:extLst>
          </c:dPt>
          <c:dPt>
            <c:idx val="46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D-C58B-4611-8B9C-455F47C0758B}"/>
              </c:ext>
            </c:extLst>
          </c:dPt>
          <c:dPt>
            <c:idx val="47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F-C58B-4611-8B9C-455F47C0758B}"/>
              </c:ext>
            </c:extLst>
          </c:dPt>
          <c:dPt>
            <c:idx val="48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61-C58B-4611-8B9C-455F47C0758B}"/>
              </c:ext>
            </c:extLst>
          </c:dPt>
          <c:dPt>
            <c:idx val="49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63-C58B-4611-8B9C-455F47C0758B}"/>
              </c:ext>
            </c:extLst>
          </c:dPt>
          <c:dPt>
            <c:idx val="50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65-C58B-4611-8B9C-455F47C0758B}"/>
              </c:ext>
            </c:extLst>
          </c:dPt>
          <c:dPt>
            <c:idx val="51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67-C58B-4611-8B9C-455F47C0758B}"/>
              </c:ext>
            </c:extLst>
          </c:dPt>
          <c:dPt>
            <c:idx val="52"/>
            <c:invertIfNegative val="1"/>
            <c:bubble3D val="0"/>
            <c:spPr>
              <a:solidFill>
                <a:srgbClr val="E06B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69-C58B-4611-8B9C-455F47C0758B}"/>
              </c:ext>
            </c:extLst>
          </c:dPt>
          <c:cat>
            <c:strRef>
              <c:f>Sheet1!$A$2:$A$54</c:f>
              <c:strCache>
                <c:ptCount val="53"/>
              </c:strCache>
            </c: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160</c:v>
                </c:pt>
                <c:pt idx="1">
                  <c:v>188</c:v>
                </c:pt>
                <c:pt idx="2">
                  <c:v>202</c:v>
                </c:pt>
                <c:pt idx="3">
                  <c:v>258</c:v>
                </c:pt>
                <c:pt idx="4">
                  <c:v>280</c:v>
                </c:pt>
                <c:pt idx="5">
                  <c:v>316</c:v>
                </c:pt>
                <c:pt idx="6">
                  <c:v>406</c:v>
                </c:pt>
                <c:pt idx="7">
                  <c:v>410</c:v>
                </c:pt>
                <c:pt idx="8">
                  <c:v>424</c:v>
                </c:pt>
                <c:pt idx="9">
                  <c:v>430</c:v>
                </c:pt>
                <c:pt idx="10">
                  <c:v>473</c:v>
                </c:pt>
                <c:pt idx="11">
                  <c:v>620</c:v>
                </c:pt>
                <c:pt idx="12">
                  <c:v>683</c:v>
                </c:pt>
                <c:pt idx="13">
                  <c:v>691</c:v>
                </c:pt>
                <c:pt idx="14">
                  <c:v>716</c:v>
                </c:pt>
                <c:pt idx="15">
                  <c:v>717</c:v>
                </c:pt>
                <c:pt idx="16">
                  <c:v>730</c:v>
                </c:pt>
                <c:pt idx="17">
                  <c:v>734</c:v>
                </c:pt>
                <c:pt idx="18">
                  <c:v>999</c:v>
                </c:pt>
                <c:pt idx="19">
                  <c:v>1207</c:v>
                </c:pt>
                <c:pt idx="20">
                  <c:v>1486</c:v>
                </c:pt>
                <c:pt idx="21">
                  <c:v>1494</c:v>
                </c:pt>
                <c:pt idx="22">
                  <c:v>243</c:v>
                </c:pt>
                <c:pt idx="23">
                  <c:v>246</c:v>
                </c:pt>
                <c:pt idx="24">
                  <c:v>249</c:v>
                </c:pt>
                <c:pt idx="25">
                  <c:v>270</c:v>
                </c:pt>
                <c:pt idx="26">
                  <c:v>297</c:v>
                </c:pt>
                <c:pt idx="27">
                  <c:v>303</c:v>
                </c:pt>
                <c:pt idx="28">
                  <c:v>310</c:v>
                </c:pt>
                <c:pt idx="29">
                  <c:v>365</c:v>
                </c:pt>
                <c:pt idx="30">
                  <c:v>366</c:v>
                </c:pt>
                <c:pt idx="31">
                  <c:v>374</c:v>
                </c:pt>
                <c:pt idx="32">
                  <c:v>381</c:v>
                </c:pt>
                <c:pt idx="33">
                  <c:v>421</c:v>
                </c:pt>
                <c:pt idx="34">
                  <c:v>468</c:v>
                </c:pt>
                <c:pt idx="35">
                  <c:v>477</c:v>
                </c:pt>
                <c:pt idx="36">
                  <c:v>505</c:v>
                </c:pt>
                <c:pt idx="37">
                  <c:v>511</c:v>
                </c:pt>
                <c:pt idx="38">
                  <c:v>514</c:v>
                </c:pt>
                <c:pt idx="39">
                  <c:v>575</c:v>
                </c:pt>
                <c:pt idx="40">
                  <c:v>595</c:v>
                </c:pt>
                <c:pt idx="41">
                  <c:v>602</c:v>
                </c:pt>
                <c:pt idx="42">
                  <c:v>687</c:v>
                </c:pt>
                <c:pt idx="43">
                  <c:v>694</c:v>
                </c:pt>
                <c:pt idx="44">
                  <c:v>763</c:v>
                </c:pt>
                <c:pt idx="45">
                  <c:v>910</c:v>
                </c:pt>
                <c:pt idx="46">
                  <c:v>922</c:v>
                </c:pt>
                <c:pt idx="47">
                  <c:v>1067</c:v>
                </c:pt>
                <c:pt idx="48">
                  <c:v>1211</c:v>
                </c:pt>
                <c:pt idx="49">
                  <c:v>1243</c:v>
                </c:pt>
                <c:pt idx="50">
                  <c:v>1343</c:v>
                </c:pt>
                <c:pt idx="51">
                  <c:v>1404</c:v>
                </c:pt>
                <c:pt idx="52">
                  <c:v>1501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6A-C58B-4611-8B9C-455F47C075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7CCD2"/>
            </a:solidFill>
          </a:ln>
        </c:spPr>
        <c:txPr>
          <a:bodyPr/>
          <a:lstStyle/>
          <a:p>
            <a:pPr>
              <a:defRPr sz="100"/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 w="6350">
              <a:solidFill>
                <a:srgbClr val="E7E5DF"/>
              </a:solidFill>
            </a:ln>
          </c:spPr>
        </c:majorGridlines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98781"/>
                </a:solidFill>
                <a:latin typeface="Microsoft JhengHei"/>
                <a:ea typeface="Microsoft JhengHei"/>
              </a:defRPr>
            </a:pPr>
            <a:endParaRPr lang="zh-TW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title>
      <c:tx>
        <c:rich>
          <a:bodyPr/>
          <a:lstStyle/>
          <a:p>
            <a:r>
              <a:rPr lang="en-US" altLang="zh-TW" sz="1200" b="1" dirty="0">
                <a:effectLst/>
              </a:rPr>
              <a:t>53</a:t>
            </a:r>
            <a:r>
              <a:rPr lang="zh-TW" altLang="zh-TW" sz="1200" b="1" dirty="0">
                <a:effectLst/>
              </a:rPr>
              <a:t>組受眾</a:t>
            </a:r>
            <a:r>
              <a:rPr lang="zh-TW" altLang="en-US" sz="1200" b="1" dirty="0">
                <a:effectLst/>
              </a:rPr>
              <a:t> </a:t>
            </a:r>
            <a:r>
              <a:rPr lang="en-US" altLang="zh-TW" sz="1200" b="1" dirty="0">
                <a:latin typeface="Microsoft JhengHei"/>
                <a:ea typeface="Microsoft JhengHei"/>
              </a:rPr>
              <a:t>CTR vs CR </a:t>
            </a:r>
            <a:r>
              <a:rPr lang="zh-TW" altLang="en-US" sz="1200" b="1" dirty="0">
                <a:latin typeface="Microsoft JhengHei"/>
                <a:ea typeface="Microsoft JhengHei"/>
              </a:rPr>
              <a:t>散佈圖（只取有名單數者）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受眾組合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noFill/>
              </a:ln>
            </c:spPr>
          </c:marker>
          <c:xVal>
            <c:numRef>
              <c:f>Sheet1!$A$2:$A$54</c:f>
              <c:numCache>
                <c:formatCode>General</c:formatCode>
                <c:ptCount val="53"/>
                <c:pt idx="0">
                  <c:v>1.957859</c:v>
                </c:pt>
                <c:pt idx="1">
                  <c:v>2.1139709999999998</c:v>
                </c:pt>
                <c:pt idx="2">
                  <c:v>2.1309450000000001</c:v>
                </c:pt>
                <c:pt idx="3">
                  <c:v>2.1311719999999998</c:v>
                </c:pt>
                <c:pt idx="4">
                  <c:v>2.1365509999999999</c:v>
                </c:pt>
                <c:pt idx="5">
                  <c:v>2.1404559999999999</c:v>
                </c:pt>
                <c:pt idx="6">
                  <c:v>2.201648</c:v>
                </c:pt>
                <c:pt idx="7">
                  <c:v>2.2038980000000001</c:v>
                </c:pt>
                <c:pt idx="8">
                  <c:v>2.2147649999999999</c:v>
                </c:pt>
                <c:pt idx="9">
                  <c:v>2.290251</c:v>
                </c:pt>
                <c:pt idx="10">
                  <c:v>2.3277909999999999</c:v>
                </c:pt>
                <c:pt idx="11">
                  <c:v>2.3282440000000002</c:v>
                </c:pt>
                <c:pt idx="12">
                  <c:v>2.3754469999999999</c:v>
                </c:pt>
                <c:pt idx="13">
                  <c:v>2.3796520000000001</c:v>
                </c:pt>
                <c:pt idx="14">
                  <c:v>2.4148849999999999</c:v>
                </c:pt>
                <c:pt idx="15">
                  <c:v>2.4899960000000001</c:v>
                </c:pt>
                <c:pt idx="16">
                  <c:v>2.5084919999999999</c:v>
                </c:pt>
                <c:pt idx="17">
                  <c:v>2.5276909999999999</c:v>
                </c:pt>
                <c:pt idx="18">
                  <c:v>2.5717379999999999</c:v>
                </c:pt>
                <c:pt idx="19">
                  <c:v>2.6001759999999998</c:v>
                </c:pt>
                <c:pt idx="20">
                  <c:v>2.6719560000000002</c:v>
                </c:pt>
                <c:pt idx="21">
                  <c:v>2.693603</c:v>
                </c:pt>
                <c:pt idx="22">
                  <c:v>2.6991350000000001</c:v>
                </c:pt>
                <c:pt idx="23">
                  <c:v>2.70689</c:v>
                </c:pt>
                <c:pt idx="24">
                  <c:v>2.737333</c:v>
                </c:pt>
                <c:pt idx="25">
                  <c:v>2.7506810000000002</c:v>
                </c:pt>
                <c:pt idx="26">
                  <c:v>2.7634300000000001</c:v>
                </c:pt>
                <c:pt idx="27">
                  <c:v>2.7753230000000002</c:v>
                </c:pt>
                <c:pt idx="28">
                  <c:v>2.7868849999999998</c:v>
                </c:pt>
                <c:pt idx="29">
                  <c:v>2.8040020000000001</c:v>
                </c:pt>
                <c:pt idx="30">
                  <c:v>2.8124189999999998</c:v>
                </c:pt>
                <c:pt idx="31">
                  <c:v>2.8664139999999998</c:v>
                </c:pt>
                <c:pt idx="32">
                  <c:v>2.8975960000000001</c:v>
                </c:pt>
                <c:pt idx="33">
                  <c:v>2.9201260000000002</c:v>
                </c:pt>
                <c:pt idx="34">
                  <c:v>2.944658</c:v>
                </c:pt>
                <c:pt idx="35">
                  <c:v>3.0277240000000001</c:v>
                </c:pt>
                <c:pt idx="36">
                  <c:v>3.042888</c:v>
                </c:pt>
                <c:pt idx="37">
                  <c:v>3.0429560000000002</c:v>
                </c:pt>
                <c:pt idx="38">
                  <c:v>3.09633</c:v>
                </c:pt>
                <c:pt idx="39">
                  <c:v>3.1052759999999999</c:v>
                </c:pt>
                <c:pt idx="40">
                  <c:v>3.289882</c:v>
                </c:pt>
                <c:pt idx="41">
                  <c:v>3.3107709999999999</c:v>
                </c:pt>
                <c:pt idx="42">
                  <c:v>3.359788</c:v>
                </c:pt>
                <c:pt idx="43">
                  <c:v>3.4057140000000001</c:v>
                </c:pt>
                <c:pt idx="44">
                  <c:v>3.4074710000000001</c:v>
                </c:pt>
                <c:pt idx="45">
                  <c:v>3.5010940000000002</c:v>
                </c:pt>
                <c:pt idx="46">
                  <c:v>3.5888689999999999</c:v>
                </c:pt>
                <c:pt idx="47">
                  <c:v>3.7427220000000001</c:v>
                </c:pt>
                <c:pt idx="48">
                  <c:v>3.8654090000000001</c:v>
                </c:pt>
                <c:pt idx="49">
                  <c:v>3.9907729999999999</c:v>
                </c:pt>
                <c:pt idx="50">
                  <c:v>4.3702100000000002</c:v>
                </c:pt>
                <c:pt idx="51">
                  <c:v>4.472512</c:v>
                </c:pt>
                <c:pt idx="52">
                  <c:v>5.0025069999999996</c:v>
                </c:pt>
              </c:numCache>
            </c:numRef>
          </c:xVal>
          <c:yVal>
            <c:numRef>
              <c:f>Sheet1!$B$2:$B$54</c:f>
              <c:numCache>
                <c:formatCode>General</c:formatCode>
                <c:ptCount val="53"/>
                <c:pt idx="0">
                  <c:v>0.95</c:v>
                </c:pt>
                <c:pt idx="1">
                  <c:v>2.17</c:v>
                </c:pt>
                <c:pt idx="2">
                  <c:v>0.72</c:v>
                </c:pt>
                <c:pt idx="3">
                  <c:v>0.7</c:v>
                </c:pt>
                <c:pt idx="4">
                  <c:v>2.2000000000000002</c:v>
                </c:pt>
                <c:pt idx="5">
                  <c:v>0.83</c:v>
                </c:pt>
                <c:pt idx="6">
                  <c:v>1.54</c:v>
                </c:pt>
                <c:pt idx="7">
                  <c:v>0.68</c:v>
                </c:pt>
                <c:pt idx="8">
                  <c:v>1.65</c:v>
                </c:pt>
                <c:pt idx="9">
                  <c:v>1.67</c:v>
                </c:pt>
                <c:pt idx="10">
                  <c:v>2.04</c:v>
                </c:pt>
                <c:pt idx="11">
                  <c:v>0.82</c:v>
                </c:pt>
                <c:pt idx="12">
                  <c:v>0.88</c:v>
                </c:pt>
                <c:pt idx="13">
                  <c:v>2.62</c:v>
                </c:pt>
                <c:pt idx="14">
                  <c:v>2.46</c:v>
                </c:pt>
                <c:pt idx="15">
                  <c:v>0.89</c:v>
                </c:pt>
                <c:pt idx="16">
                  <c:v>1.04</c:v>
                </c:pt>
                <c:pt idx="17">
                  <c:v>1.1200000000000001</c:v>
                </c:pt>
                <c:pt idx="18">
                  <c:v>1.05</c:v>
                </c:pt>
                <c:pt idx="19">
                  <c:v>0.97</c:v>
                </c:pt>
                <c:pt idx="20">
                  <c:v>1.68</c:v>
                </c:pt>
                <c:pt idx="21">
                  <c:v>1.63</c:v>
                </c:pt>
                <c:pt idx="22">
                  <c:v>1.99</c:v>
                </c:pt>
                <c:pt idx="23">
                  <c:v>2.71</c:v>
                </c:pt>
                <c:pt idx="24">
                  <c:v>1.06</c:v>
                </c:pt>
                <c:pt idx="25">
                  <c:v>1.28</c:v>
                </c:pt>
                <c:pt idx="26">
                  <c:v>0.93</c:v>
                </c:pt>
                <c:pt idx="27">
                  <c:v>0.64</c:v>
                </c:pt>
                <c:pt idx="28">
                  <c:v>2.23</c:v>
                </c:pt>
                <c:pt idx="29">
                  <c:v>1.01</c:v>
                </c:pt>
                <c:pt idx="30">
                  <c:v>1.83</c:v>
                </c:pt>
                <c:pt idx="31">
                  <c:v>2.2000000000000002</c:v>
                </c:pt>
                <c:pt idx="32">
                  <c:v>1.1399999999999999</c:v>
                </c:pt>
                <c:pt idx="33">
                  <c:v>2.94</c:v>
                </c:pt>
                <c:pt idx="34">
                  <c:v>0.5</c:v>
                </c:pt>
                <c:pt idx="35">
                  <c:v>1.2</c:v>
                </c:pt>
                <c:pt idx="36">
                  <c:v>2.36</c:v>
                </c:pt>
                <c:pt idx="37">
                  <c:v>2.08</c:v>
                </c:pt>
                <c:pt idx="38">
                  <c:v>1.48</c:v>
                </c:pt>
                <c:pt idx="39">
                  <c:v>1.96</c:v>
                </c:pt>
                <c:pt idx="40">
                  <c:v>1.89</c:v>
                </c:pt>
                <c:pt idx="41">
                  <c:v>0.89</c:v>
                </c:pt>
                <c:pt idx="42">
                  <c:v>1.57</c:v>
                </c:pt>
                <c:pt idx="43">
                  <c:v>0.67</c:v>
                </c:pt>
                <c:pt idx="44">
                  <c:v>0.84</c:v>
                </c:pt>
                <c:pt idx="45">
                  <c:v>1.39</c:v>
                </c:pt>
                <c:pt idx="46">
                  <c:v>2.62</c:v>
                </c:pt>
                <c:pt idx="47">
                  <c:v>0.74</c:v>
                </c:pt>
                <c:pt idx="48">
                  <c:v>0.9</c:v>
                </c:pt>
                <c:pt idx="49">
                  <c:v>1.45</c:v>
                </c:pt>
                <c:pt idx="50">
                  <c:v>2.27</c:v>
                </c:pt>
                <c:pt idx="51">
                  <c:v>1.5</c:v>
                </c:pt>
                <c:pt idx="52">
                  <c:v>2.27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26A-43C1-AEEB-D2E30515E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.5"/>
          <c:min val="1.5"/>
        </c:scaling>
        <c:delete val="0"/>
        <c:axPos val="b"/>
        <c:title>
          <c:tx>
            <c:rich>
              <a:bodyPr/>
              <a:lstStyle/>
              <a:p>
                <a:r>
                  <a:rPr lang="en-US" sz="1000">
                    <a:solidFill>
                      <a:srgbClr val="898781"/>
                    </a:solidFill>
                    <a:latin typeface="Microsoft JhengHei"/>
                    <a:ea typeface="Microsoft JhengHei"/>
                  </a:rPr>
                  <a:t>CTR（</a:t>
                </a:r>
                <a:r>
                  <a:rPr lang="zh-TW" altLang="en-US" sz="1000">
                    <a:solidFill>
                      <a:srgbClr val="898781"/>
                    </a:solidFill>
                    <a:latin typeface="Microsoft JhengHei"/>
                    <a:ea typeface="Microsoft JhengHei"/>
                  </a:rPr>
                  <a:t>點擊率）</a:t>
                </a:r>
              </a:p>
            </c:rich>
          </c:tx>
          <c:overlay val="0"/>
        </c:title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98781"/>
                </a:solidFill>
                <a:latin typeface="Microsoft JhengHei"/>
                <a:ea typeface="Microsoft JhengHei"/>
              </a:defRPr>
            </a:pPr>
            <a:endParaRPr lang="zh-TW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in val="0"/>
        </c:scaling>
        <c:delete val="0"/>
        <c:axPos val="l"/>
        <c:majorGridlines>
          <c:spPr>
            <a:ln w="6350">
              <a:solidFill>
                <a:srgbClr val="E7E5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altLang="zh-TW" sz="1000">
                    <a:solidFill>
                      <a:srgbClr val="898781"/>
                    </a:solidFill>
                    <a:latin typeface="Microsoft JhengHei"/>
                    <a:ea typeface="Microsoft JhengHei"/>
                  </a:rPr>
                  <a:t>CR</a:t>
                </a:r>
                <a:r>
                  <a:rPr lang="zh-TW" altLang="en-US" sz="1000">
                    <a:solidFill>
                      <a:srgbClr val="898781"/>
                    </a:solidFill>
                    <a:latin typeface="Microsoft JhengHei"/>
                    <a:ea typeface="Microsoft JhengHei"/>
                  </a:rPr>
                  <a:t>（潛客</a:t>
                </a:r>
                <a:r>
                  <a:rPr lang="en-US" altLang="zh-TW" sz="1000">
                    <a:solidFill>
                      <a:srgbClr val="898781"/>
                    </a:solidFill>
                    <a:latin typeface="Microsoft JhengHei"/>
                    <a:ea typeface="Microsoft JhengHei"/>
                  </a:rPr>
                  <a:t>/</a:t>
                </a:r>
                <a:r>
                  <a:rPr lang="zh-TW" altLang="en-US" sz="1000">
                    <a:solidFill>
                      <a:srgbClr val="898781"/>
                    </a:solidFill>
                    <a:latin typeface="Microsoft JhengHei"/>
                    <a:ea typeface="Microsoft JhengHei"/>
                  </a:rPr>
                  <a:t>點擊）</a:t>
                </a:r>
              </a:p>
            </c:rich>
          </c:tx>
          <c:overlay val="0"/>
        </c:title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98781"/>
                </a:solidFill>
                <a:latin typeface="Microsoft JhengHei"/>
                <a:ea typeface="Microsoft JhengHei"/>
              </a:defRPr>
            </a:pPr>
            <a:endParaRPr lang="zh-TW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1AA8A-936D-49F4-A7AB-47C39C29A710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C8235-9688-4213-AF35-EFCB749596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689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C8235-9688-4213-AF35-EFCB749596A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3964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相關係數怎麼算的</a:t>
            </a:r>
            <a:r>
              <a:rPr dirty="0"/>
              <a:t>】</a:t>
            </a:r>
          </a:p>
          <a:p>
            <a:r>
              <a:rPr dirty="0" err="1"/>
              <a:t>用的是皮爾森相關係數（Pearson</a:t>
            </a:r>
            <a:r>
              <a:rPr dirty="0"/>
              <a:t> correlation），</a:t>
            </a:r>
            <a:r>
              <a:rPr dirty="0" err="1"/>
              <a:t>公式：共變異數</a:t>
            </a:r>
            <a:r>
              <a:rPr dirty="0"/>
              <a:t> ÷（</a:t>
            </a:r>
            <a:r>
              <a:rPr dirty="0" err="1"/>
              <a:t>CTR標準差</a:t>
            </a:r>
            <a:r>
              <a:rPr dirty="0"/>
              <a:t> × </a:t>
            </a:r>
            <a:r>
              <a:rPr dirty="0" err="1"/>
              <a:t>CR標準差</a:t>
            </a:r>
            <a:r>
              <a:rPr dirty="0"/>
              <a:t>）</a:t>
            </a:r>
          </a:p>
          <a:p>
            <a:endParaRPr dirty="0"/>
          </a:p>
          <a:p>
            <a:r>
              <a:rPr dirty="0" err="1"/>
              <a:t>算法</a:t>
            </a:r>
            <a:r>
              <a:rPr dirty="0"/>
              <a:t>：</a:t>
            </a:r>
          </a:p>
          <a:p>
            <a:r>
              <a:rPr dirty="0"/>
              <a:t>1. 取副粉專53組受眾（全期</a:t>
            </a:r>
            <a:r>
              <a:rPr lang="zh-TW" altLang="en-US" dirty="0"/>
              <a:t>有名單數者</a:t>
            </a:r>
            <a:r>
              <a:rPr dirty="0"/>
              <a:t>），</a:t>
            </a:r>
            <a:r>
              <a:rPr dirty="0" err="1"/>
              <a:t>每組看兩個數字：CTR（點擊率）跟CR（潛客數</a:t>
            </a:r>
            <a:r>
              <a:rPr dirty="0"/>
              <a:t>/</a:t>
            </a:r>
            <a:r>
              <a:rPr dirty="0" err="1"/>
              <a:t>點擊次數</a:t>
            </a:r>
            <a:r>
              <a:rPr dirty="0"/>
              <a:t>）</a:t>
            </a:r>
          </a:p>
          <a:p>
            <a:r>
              <a:rPr dirty="0"/>
              <a:t>2. 先算出這53組CTR的平均值、CR的平均值</a:t>
            </a:r>
          </a:p>
          <a:p>
            <a:r>
              <a:rPr dirty="0"/>
              <a:t>3. </a:t>
            </a:r>
            <a:r>
              <a:rPr dirty="0" err="1"/>
              <a:t>每一組算「CTR跟平均差多少」乘上「CR跟平均差多少</a:t>
            </a:r>
            <a:r>
              <a:rPr dirty="0"/>
              <a:t>」，</a:t>
            </a:r>
            <a:r>
              <a:rPr dirty="0" err="1"/>
              <a:t>全部加總（共變異數</a:t>
            </a:r>
            <a:r>
              <a:rPr dirty="0"/>
              <a:t>）</a:t>
            </a:r>
          </a:p>
          <a:p>
            <a:r>
              <a:rPr dirty="0"/>
              <a:t>4. 除以CTR的離散程度乘上CR的離散程度，結果會落在-1~+1之間</a:t>
            </a:r>
          </a:p>
          <a:p>
            <a:endParaRPr dirty="0"/>
          </a:p>
          <a:p>
            <a:r>
              <a:rPr dirty="0"/>
              <a:t>結果是0.14。這個量尺-1是完全負相關、+1是完全正相關，0.14非常接近0，代表CTR高低跟CR高低幾乎沒關係，統計上算是噪音範圍，不是「有一點點正相關」。</a:t>
            </a:r>
          </a:p>
          <a:p>
            <a:endParaRPr dirty="0"/>
          </a:p>
          <a:p>
            <a:r>
              <a:rPr dirty="0"/>
              <a:t>備註：這53組裡有些受眾潛客數很少（1-2組），小樣本的CR本身波動就大，會讓整體相關係數打折扣。這個數字是用來說明散佈圖整體趨勢，跟前面引用的兩組範例（5組、16組潛客）是分開的用途。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85800"/>
            <a:ext cx="10362895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 </a:t>
            </a:r>
            <a:r>
              <a:rPr lang="zh-TW" altLang="en-US" sz="1300" dirty="0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上半年</a:t>
            </a:r>
            <a:r>
              <a:rPr sz="1300" b="0" dirty="0" err="1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成效精選案例分享</a:t>
            </a:r>
            <a:endParaRPr sz="1300" b="0" dirty="0">
              <a:solidFill>
                <a:srgbClr val="8B909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457200" cy="381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B52DB1A4-15A5-4F72-8412-EEDFBD78C236}"/>
              </a:ext>
            </a:extLst>
          </p:cNvPr>
          <p:cNvGrpSpPr/>
          <p:nvPr/>
        </p:nvGrpSpPr>
        <p:grpSpPr>
          <a:xfrm>
            <a:off x="914400" y="1679860"/>
            <a:ext cx="10389790" cy="887475"/>
            <a:chOff x="914400" y="1207008"/>
            <a:chExt cx="10389790" cy="887475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207008"/>
              <a:ext cx="10362895" cy="61555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4000" b="1" dirty="0" err="1">
                  <a:solidFill>
                    <a:srgbClr val="12151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景立方層峰</a:t>
              </a:r>
              <a:endParaRPr sz="4000" b="1" dirty="0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41295" y="1863651"/>
              <a:ext cx="10362895" cy="2308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500" b="0" dirty="0" err="1">
                  <a:solidFill>
                    <a:srgbClr val="565C6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潛銷期成效優化</a:t>
              </a:r>
              <a:r>
                <a:rPr lang="zh-TW" altLang="en-US" sz="1500" b="0" dirty="0">
                  <a:solidFill>
                    <a:srgbClr val="565C6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紀錄</a:t>
              </a:r>
              <a:endParaRPr sz="1500" b="0" dirty="0">
                <a:solidFill>
                  <a:srgbClr val="565C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8310282" y="4166153"/>
            <a:ext cx="2967013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ctr"/>
          <a:lstStyle/>
          <a:p>
            <a:pPr algn="ctr">
              <a:spcAft>
                <a:spcPts val="600"/>
              </a:spcAft>
            </a:pPr>
            <a:r>
              <a:rPr sz="1150" b="0" dirty="0" err="1">
                <a:solidFill>
                  <a:srgbClr val="9AA0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地點</a:t>
            </a:r>
            <a:r>
              <a:rPr sz="1150" b="0" dirty="0">
                <a:solidFill>
                  <a:srgbClr val="9AA0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sz="1150" b="0" dirty="0" err="1">
                <a:solidFill>
                  <a:srgbClr val="4A50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台中市北屯區南興路</a:t>
            </a:r>
            <a:r>
              <a:rPr sz="1150" b="0" dirty="0">
                <a:solidFill>
                  <a:srgbClr val="4A50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x </a:t>
            </a:r>
            <a:r>
              <a:rPr sz="1150" b="0" dirty="0" err="1">
                <a:solidFill>
                  <a:srgbClr val="4A50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敦富一街</a:t>
            </a:r>
            <a:endParaRPr sz="1150" b="0" dirty="0">
              <a:solidFill>
                <a:srgbClr val="4A505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600"/>
              </a:spcAft>
            </a:pPr>
            <a:r>
              <a:rPr sz="1150" b="0" dirty="0" err="1">
                <a:solidFill>
                  <a:srgbClr val="9AA0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格局</a:t>
            </a:r>
            <a:r>
              <a:rPr sz="1150" b="0" dirty="0">
                <a:solidFill>
                  <a:srgbClr val="9AA0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sz="1150" b="0" dirty="0">
                <a:solidFill>
                  <a:srgbClr val="4A50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三房36-37坪／四房42-44坪</a:t>
            </a:r>
          </a:p>
          <a:p>
            <a:pPr>
              <a:spcAft>
                <a:spcPts val="600"/>
              </a:spcAft>
            </a:pPr>
            <a:r>
              <a:rPr sz="1150" b="0" dirty="0" err="1">
                <a:solidFill>
                  <a:srgbClr val="9AA0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案型</a:t>
            </a:r>
            <a:r>
              <a:rPr sz="1150" b="0" dirty="0">
                <a:solidFill>
                  <a:srgbClr val="9AA0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sz="1150" b="0" dirty="0">
                <a:solidFill>
                  <a:srgbClr val="4A50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潛銷案，2029年上半年交屋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623560"/>
            <a:ext cx="10362895" cy="12700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87767" y="5588762"/>
            <a:ext cx="82296" cy="82296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5955" y="5312664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3D43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主粉專（3/12）</a:t>
            </a:r>
          </a:p>
        </p:txBody>
      </p:sp>
      <p:sp>
        <p:nvSpPr>
          <p:cNvPr id="10" name="Oval 9"/>
          <p:cNvSpPr/>
          <p:nvPr/>
        </p:nvSpPr>
        <p:spPr>
          <a:xfrm>
            <a:off x="3982120" y="5588762"/>
            <a:ext cx="82296" cy="82296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308" y="5312664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3D43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副粉專（4/</a:t>
            </a:r>
            <a:r>
              <a:rPr lang="en-US" altLang="zh-TW" sz="1200" b="1" dirty="0">
                <a:solidFill>
                  <a:srgbClr val="3D43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sz="1200" b="1" dirty="0">
                <a:solidFill>
                  <a:srgbClr val="3D43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79008"/>
            <a:ext cx="640080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TW" altLang="en-US" sz="1250" dirty="0">
                <a:solidFill>
                  <a:srgbClr val="76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r>
              <a:rPr sz="1250" b="0" dirty="0">
                <a:solidFill>
                  <a:srgbClr val="76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期間｜2026/03/12 – 2026/07/21（</a:t>
            </a:r>
            <a:r>
              <a:rPr lang="zh-TW" altLang="en-US" sz="1250" b="0" dirty="0">
                <a:solidFill>
                  <a:srgbClr val="76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</a:t>
            </a:r>
            <a:r>
              <a:rPr sz="1250" b="0" dirty="0">
                <a:solidFill>
                  <a:srgbClr val="76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132天）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695" y="5779008"/>
            <a:ext cx="365760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50" b="0" dirty="0" err="1">
                <a:solidFill>
                  <a:srgbClr val="76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報告人：</a:t>
            </a:r>
            <a:r>
              <a:rPr lang="en-US" sz="1250" b="1" dirty="0" err="1">
                <a:solidFill>
                  <a:srgbClr val="2A78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Phoebe</a:t>
            </a:r>
            <a:endParaRPr sz="1250" b="1" dirty="0">
              <a:solidFill>
                <a:srgbClr val="2A78D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676473" y="5588812"/>
            <a:ext cx="82296" cy="8229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4661" y="5312664"/>
            <a:ext cx="1645920" cy="1847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D43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>
                <a:solidFill/>
              </a:rPr>
              <a:t>AI分析（5/25）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TW" altLang="en-US" sz="3000" b="1" i="0" dirty="0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目錄</a:t>
            </a:r>
            <a:endParaRPr sz="3000" b="1" i="0" dirty="0">
              <a:solidFill>
                <a:srgbClr val="0B0B0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527048"/>
            <a:ext cx="5943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前情提要與成效核心</a:t>
            </a:r>
            <a:endParaRPr lang="en-US" sz="1700" b="1" i="0" dirty="0">
              <a:solidFill>
                <a:srgbClr val="0B0B0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1819656"/>
            <a:ext cx="86868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dirty="0">
                <a:solidFill>
                  <a:srgbClr val="898781"/>
                </a:solidFill>
                <a:latin typeface="Microsoft JhengHei"/>
              </a:rPr>
              <a:t>背景、132天累計成效亮點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9424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40864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134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整體執行策略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06040"/>
            <a:ext cx="86868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dirty="0" err="1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主粉專→副粉專→AI分析→核心受眾導入→受眾迭代循環</a:t>
            </a:r>
            <a:endParaRPr sz="1150" b="0" i="0" dirty="0">
              <a:solidFill>
                <a:srgbClr val="89878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035808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272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9981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AI分析方法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9242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Microsoft JhengHei"/>
              </a:rPr>
              <a:t>原始數據餵入、高轉換輪廓比對、最差vs最好期受眾對比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22191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913631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886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Before / After 成效呈現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78807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Microsoft JhengHei"/>
              </a:rPr>
              <a:t>主粉專 vs 副粉專 CPL 對照、關鍵受眾組表現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08576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70001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67258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3個數據洞察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96519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Microsoft JhengHei"/>
              </a:rPr>
              <a:t>從實測數據中發現的非直覺現象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898781"/>
                </a:solidFill>
                <a:latin typeface="Microsoft JhengHei"/>
              </a:rPr>
              <a:t>景立方層峰｜</a:t>
            </a:r>
            <a:r>
              <a:rPr lang="en-US" sz="900" b="0" i="0" dirty="0">
                <a:solidFill>
                  <a:srgbClr val="898781"/>
                </a:solidFill>
                <a:latin typeface="Microsoft JhengHei"/>
              </a:rPr>
              <a:t>2026</a:t>
            </a:r>
            <a:r>
              <a:rPr lang="zh-TW" altLang="en-US" sz="900" dirty="0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上半年</a:t>
            </a:r>
            <a:r>
              <a:rPr sz="900" b="0" i="0" dirty="0" err="1">
                <a:solidFill>
                  <a:srgbClr val="898781"/>
                </a:solidFill>
                <a:latin typeface="Microsoft JhengHei"/>
              </a:rPr>
              <a:t>成效精選案例</a:t>
            </a:r>
            <a:endParaRPr sz="900" b="0" i="0" dirty="0">
              <a:solidFill>
                <a:srgbClr val="898781"/>
              </a:solidFill>
              <a:latin typeface="Microsoft Jheng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2</a:t>
            </a:r>
          </a:p>
        </p:txBody>
      </p:sp>
      <p:sp>
        <p:nvSpPr>
          <p:cNvPr id="25" name="TextBox 1"/>
          <p:cNvSpPr txBox="1"/>
          <p:nvPr/>
        </p:nvSpPr>
        <p:spPr>
          <a:xfrm>
            <a:off x="640080" y="4572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TW" altLang="en-US" sz="3000" b="1" i="0" dirty="0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目錄</a:t>
            </a:r>
            <a:endParaRPr sz="3000" b="1" i="0" dirty="0">
              <a:solidFill>
                <a:srgbClr val="0B0B0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ounded Rectangle 2"/>
          <p:cNvSpPr/>
          <p:nvPr/>
        </p:nvSpPr>
        <p:spPr>
          <a:xfrm>
            <a:off x="640080" y="539496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3"/>
          <p:cNvSpPr txBox="1"/>
          <p:nvPr/>
        </p:nvSpPr>
        <p:spPr>
          <a:xfrm>
            <a:off x="868680" y="5486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06</a:t>
            </a:r>
          </a:p>
        </p:txBody>
      </p:sp>
      <p:sp>
        <p:nvSpPr>
          <p:cNvPr id="28" name="TextBox 4"/>
          <p:cNvSpPr txBox="1"/>
          <p:nvPr/>
        </p:nvSpPr>
        <p:spPr>
          <a:xfrm>
            <a:off x="1600200" y="5458968"/>
            <a:ext cx="5943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本案檢討與未來改進</a:t>
            </a:r>
            <a:endParaRPr lang="en-US" sz="1700" b="1" i="0" dirty="0">
              <a:solidFill>
                <a:srgbClr val="0B0B0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5"/>
          <p:cNvSpPr txBox="1"/>
          <p:nvPr/>
        </p:nvSpPr>
        <p:spPr>
          <a:xfrm>
            <a:off x="1600200" y="5751576"/>
            <a:ext cx="86868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dirty="0">
                <a:solidFill>
                  <a:srgbClr val="898781"/>
                </a:solidFill>
                <a:latin typeface="Microsoft JhengHei"/>
              </a:rPr>
              <a:t>客觀覆盤 + 具體優化行動方案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 err="1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前情提要與成效</a:t>
            </a:r>
            <a:r>
              <a:rPr lang="zh-TW" altLang="en-US" sz="2800" b="1" dirty="0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</a:t>
            </a:r>
            <a:endParaRPr sz="2800" b="1" i="0" dirty="0">
              <a:solidFill>
                <a:srgbClr val="0B0B0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Background &amp; Core 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333756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3108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建案基本資料</a:t>
            </a:r>
            <a:endParaRPr sz="1300" b="1" i="0" dirty="0">
              <a:solidFill>
                <a:srgbClr val="2A78D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3108960" cy="1303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地點：台中市北屯區南興路</a:t>
            </a:r>
            <a:r>
              <a:rPr sz="1150" b="0" i="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x </a:t>
            </a:r>
            <a:r>
              <a:rPr sz="1150" b="0" i="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敦富一街</a:t>
            </a:r>
            <a:endParaRPr sz="1150" b="0" i="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ct val="140000"/>
              </a:lnSpc>
            </a:pPr>
            <a:r>
              <a:rPr sz="1150" b="0" i="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格局：三房36-37坪／四房42-44坪</a:t>
            </a:r>
          </a:p>
          <a:p>
            <a:pPr algn="l">
              <a:lnSpc>
                <a:spcPct val="140000"/>
              </a:lnSpc>
            </a:pPr>
            <a:r>
              <a:rPr sz="1150" b="0" i="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廣告目標：名單</a:t>
            </a:r>
            <a:endParaRPr lang="en-US" sz="1150" b="0" i="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ct val="140000"/>
              </a:lnSpc>
            </a:pPr>
            <a:r>
              <a:rPr sz="1150" b="0" i="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案型：潛銷案，2029年上半年交屋</a:t>
            </a:r>
          </a:p>
          <a:p>
            <a:pPr algn="l">
              <a:lnSpc>
                <a:spcPct val="140000"/>
              </a:lnSpc>
            </a:pPr>
            <a:r>
              <a:rPr sz="1150" b="0" i="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廣告帳號：主粉專＋副粉專</a:t>
            </a:r>
            <a:endParaRPr sz="1150" b="0" i="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51960" y="333756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80560" y="3493008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TW" altLang="en-US" sz="1300" b="1" i="0" dirty="0">
                <a:solidFill>
                  <a:srgbClr val="2A78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過程及成果總結</a:t>
            </a:r>
            <a:endParaRPr sz="1300" b="1" i="0" dirty="0">
              <a:solidFill>
                <a:srgbClr val="2A78D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92440" y="333756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3493008"/>
            <a:ext cx="3108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成效核心（132天累計）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886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NT$4</a:t>
            </a:r>
            <a:r>
              <a:rPr lang="en-US" altLang="zh-TW" sz="2400" b="1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43</a:t>
            </a:r>
            <a:endParaRPr sz="2400" b="1" i="0" dirty="0">
              <a:solidFill>
                <a:srgbClr val="0CA30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4343400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整體平均 CPL（合計）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7274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343 </a:t>
            </a:r>
            <a:r>
              <a:rPr lang="zh-TW" altLang="en-US" sz="2400" b="1" i="0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筆</a:t>
            </a:r>
            <a:endParaRPr sz="2400" b="1" i="0" dirty="0">
              <a:solidFill>
                <a:srgbClr val="0CA30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5184648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累計潛客數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5686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↓ </a:t>
            </a:r>
            <a:r>
              <a:rPr lang="en-US" altLang="zh-TW" sz="2400" b="1" i="0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sz="2400" b="1" i="0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025896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 err="1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副粉專啟動後</a:t>
            </a:r>
            <a:r>
              <a:rPr sz="1050" b="0" i="0" dirty="0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CPL </a:t>
            </a:r>
            <a:r>
              <a:rPr sz="1050" b="0" i="0" dirty="0" err="1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降幅</a:t>
            </a:r>
            <a:endParaRPr sz="1050" b="0" i="0" dirty="0">
              <a:solidFill>
                <a:srgbClr val="89878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371600"/>
            <a:ext cx="11155680" cy="1828797"/>
          </a:xfrm>
          <a:prstGeom prst="roundRect">
            <a:avLst>
              <a:gd name="adj" fmla="val 6000"/>
            </a:avLst>
          </a:prstGeom>
          <a:solidFill>
            <a:srgbClr val="ECF3FC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660" y="1453678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TW" altLang="en-US" sz="1300" b="1" i="0" dirty="0">
                <a:solidFill>
                  <a:srgbClr val="2A78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前情提要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672021"/>
            <a:ext cx="10927080" cy="1381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zh-TW" altLang="en-US"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初期僅投放主粉專（</a:t>
            </a:r>
            <a:r>
              <a:rPr lang="en-US" altLang="zh-TW"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3/12</a:t>
            </a:r>
            <a:r>
              <a:rPr lang="zh-TW" altLang="en-US"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），後來成效不佳加入副粉專（</a:t>
            </a:r>
            <a:r>
              <a:rPr lang="en-US" altLang="zh-TW"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4/10</a:t>
            </a:r>
            <a:r>
              <a:rPr lang="zh-TW" altLang="en-US"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）。</a:t>
            </a:r>
            <a:endParaRPr lang="en-US" sz="120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700"/>
              </a:lnSpc>
            </a:pP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內部目標：潛銷期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CPL 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應壓在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NT$300 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以下</a:t>
            </a:r>
            <a:r>
              <a:rPr lang="zh-TW" altLang="en-US"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sz="120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700"/>
              </a:lnSpc>
            </a:pP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客戶痛點：潛銷期</a:t>
            </a:r>
            <a:r>
              <a:rPr lang="zh-TW" altLang="en-US"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想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短時間內快速累積名單，作為後續來客動能的基礎，但主粉專卻打不出成效，CPL遠高於目標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>
              <a:lnSpc>
                <a:spcPts val="1700"/>
              </a:lnSpc>
            </a:pP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競品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區域市場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sz="120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700"/>
              </a:lnSpc>
            </a:pPr>
            <a:r>
              <a:rPr lang="en-US" altLang="zh-TW"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南興公園一帶近5年房價漲逾8成(33萬→60萬/坪)，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買氣熱但總價門檻高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>
              <a:lnSpc>
                <a:spcPts val="1700"/>
              </a:lnSpc>
            </a:pPr>
            <a:r>
              <a:rPr lang="en-US"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層峰單坪價53-54萬、總價落點跟同區競品相近</a:t>
            </a:r>
            <a:r>
              <a:rPr lang="zh-TW" altLang="en-US"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但產品定位卡在遠雄敦富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低總價走量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跟漢宇雲衍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重公設豪宅路線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sz="120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中間，缺乏鮮明差異化賣點</a:t>
            </a:r>
            <a:r>
              <a:rPr sz="12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景立方層峰｜2026</a:t>
            </a:r>
            <a:r>
              <a:rPr lang="zh-TW" altLang="en-US" sz="900" dirty="0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上半年</a:t>
            </a:r>
            <a:r>
              <a:rPr sz="900" b="0" i="0" dirty="0" err="1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成效精選案例</a:t>
            </a:r>
            <a:endParaRPr sz="900" b="0" i="0" dirty="0">
              <a:solidFill>
                <a:srgbClr val="89878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877056"/>
            <a:ext cx="3200400" cy="329184"/>
          </a:xfrm>
          <a:prstGeom prst="roundRect">
            <a:avLst>
              <a:gd name="adj" fmla="val 18000"/>
            </a:avLst>
          </a:prstGeom>
          <a:solidFill>
            <a:srgbClr val="EAF2FC"/>
          </a:solidFill>
          <a:ln w="9525">
            <a:solidFill>
              <a:srgbClr val="C7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dirty="0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① </a:t>
            </a:r>
            <a:r>
              <a:rPr lang="zh-TW" altLang="en-US" sz="1150" b="1" dirty="0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不定期</a:t>
            </a:r>
            <a:r>
              <a:rPr sz="1150" b="1" dirty="0" err="1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把受眾成效數據丟給</a:t>
            </a:r>
            <a:r>
              <a:rPr sz="1150" b="1" dirty="0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Claude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89320" y="4206240"/>
            <a:ext cx="182880" cy="146304"/>
          </a:xfrm>
          <a:prstGeom prst="down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80560" y="4352544"/>
            <a:ext cx="3200400" cy="329184"/>
          </a:xfrm>
          <a:prstGeom prst="roundRect">
            <a:avLst>
              <a:gd name="adj" fmla="val 18000"/>
            </a:avLst>
          </a:prstGeom>
          <a:solidFill>
            <a:srgbClr val="EAF2FC"/>
          </a:solidFill>
          <a:ln w="9525">
            <a:solidFill>
              <a:srgbClr val="C7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dirty="0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② Claude </a:t>
            </a:r>
            <a:r>
              <a:rPr sz="1150" b="1" dirty="0" err="1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</a:t>
            </a:r>
            <a:r>
              <a:rPr lang="zh-TW" altLang="en-US" sz="1150" b="1" dirty="0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可促成轉換的</a:t>
            </a:r>
            <a:r>
              <a:rPr sz="1150" b="1" dirty="0" err="1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受眾輪廓</a:t>
            </a:r>
            <a:endParaRPr sz="1150" b="1" dirty="0">
              <a:solidFill>
                <a:srgbClr val="12151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Down Arrow 28"/>
          <p:cNvSpPr/>
          <p:nvPr/>
        </p:nvSpPr>
        <p:spPr>
          <a:xfrm>
            <a:off x="5989320" y="4681728"/>
            <a:ext cx="182880" cy="146304"/>
          </a:xfrm>
          <a:prstGeom prst="down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80560" y="4828032"/>
            <a:ext cx="3200400" cy="329184"/>
          </a:xfrm>
          <a:prstGeom prst="roundRect">
            <a:avLst>
              <a:gd name="adj" fmla="val 18000"/>
            </a:avLst>
          </a:prstGeom>
          <a:solidFill>
            <a:srgbClr val="EAF2FC"/>
          </a:solidFill>
          <a:ln w="9525">
            <a:solidFill>
              <a:srgbClr val="C7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dirty="0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③ </a:t>
            </a:r>
            <a:r>
              <a:rPr sz="1150" b="1" dirty="0" err="1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延伸新受眾＋興趣標籤</a:t>
            </a:r>
            <a:r>
              <a:rPr lang="zh-TW" altLang="en-US" sz="1150" b="1" dirty="0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</a:t>
            </a:r>
            <a:r>
              <a:rPr sz="1150" b="1" dirty="0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sz="1150" b="1" dirty="0" err="1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上線測試</a:t>
            </a:r>
            <a:endParaRPr sz="1150" b="1" dirty="0">
              <a:solidFill>
                <a:srgbClr val="12151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5989320" y="5157216"/>
            <a:ext cx="182880" cy="146304"/>
          </a:xfrm>
          <a:prstGeom prst="down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480560" y="5303520"/>
            <a:ext cx="3200400" cy="329184"/>
          </a:xfrm>
          <a:prstGeom prst="roundRect">
            <a:avLst>
              <a:gd name="adj" fmla="val 18000"/>
            </a:avLst>
          </a:prstGeom>
          <a:solidFill>
            <a:srgbClr val="EAF2FC"/>
          </a:solidFill>
          <a:ln w="9525">
            <a:solidFill>
              <a:srgbClr val="C7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12151A"/>
                </a:solidFill>
                <a:latin typeface="Microsoft JhengHei"/>
              </a:rPr>
              <a:t>④ 成效再回饋給 Claude，持續迭代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724144"/>
            <a:ext cx="3200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i="1" dirty="0">
                <a:solidFill>
                  <a:srgbClr val="8B909A"/>
                </a:solidFill>
                <a:latin typeface="Microsoft JhengHei"/>
              </a:rPr>
              <a:t>（</a:t>
            </a:r>
            <a:r>
              <a:rPr sz="950" i="1" dirty="0" err="1">
                <a:solidFill>
                  <a:srgbClr val="8B909A"/>
                </a:solidFill>
                <a:latin typeface="Microsoft JhengHei"/>
              </a:rPr>
              <a:t>依每輪成效持續反覆進行</a:t>
            </a:r>
            <a:r>
              <a:rPr sz="950" i="1" dirty="0">
                <a:solidFill>
                  <a:srgbClr val="8B909A"/>
                </a:solidFill>
                <a:latin typeface="Microsoft JhengHei"/>
              </a:rPr>
              <a:t>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6016752"/>
            <a:ext cx="3200400" cy="357060"/>
          </a:xfrm>
          <a:prstGeom prst="roundRect">
            <a:avLst>
              <a:gd name="adj" fmla="val 18000"/>
            </a:avLst>
          </a:prstGeom>
          <a:solidFill>
            <a:srgbClr val="EAF7EE"/>
          </a:solidFill>
          <a:ln w="9525">
            <a:solidFill>
              <a:srgbClr val="BFE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dirty="0" err="1">
                <a:solidFill>
                  <a:srgbClr val="E06B4A"/>
                </a:solidFill>
                <a:latin typeface="Microsoft JhengHei"/>
              </a:rPr>
              <a:t>CPL：主</a:t>
            </a:r>
            <a:r>
              <a:rPr sz="1200" b="1" dirty="0">
                <a:solidFill>
                  <a:srgbClr val="E06B4A"/>
                </a:solidFill>
                <a:latin typeface="Microsoft JhengHei"/>
              </a:rPr>
              <a:t> $1,055 → 副 $394（↓37%）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 err="1">
                <a:solidFill>
                  <a:srgbClr val="0B0B0B"/>
                </a:solidFill>
                <a:latin typeface="Microsoft JhengHei"/>
              </a:rPr>
              <a:t>整體執行策略</a:t>
            </a:r>
            <a:endParaRPr sz="2800" b="1" i="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Strategy Timeline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17320"/>
            <a:ext cx="3657600" cy="32461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A78D6"/>
                </a:solidFill>
                <a:latin typeface="Microsoft JhengHe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3291840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TW" altLang="en-US" sz="1550" b="1" i="0" dirty="0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僅</a:t>
            </a:r>
            <a:r>
              <a:rPr sz="1550" b="1" i="0" dirty="0" err="1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主粉專</a:t>
            </a:r>
            <a:endParaRPr sz="1550" b="1" i="0" dirty="0">
              <a:solidFill>
                <a:srgbClr val="0B0B0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91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898781"/>
                </a:solidFill>
                <a:latin typeface="Microsoft JhengHei"/>
              </a:rPr>
              <a:t>03/12 – 04/</a:t>
            </a:r>
            <a:r>
              <a:rPr lang="en-US" altLang="zh-TW" sz="1050" b="0" i="0" dirty="0">
                <a:solidFill>
                  <a:srgbClr val="898781"/>
                </a:solidFill>
                <a:latin typeface="Microsoft JhengHei"/>
              </a:rPr>
              <a:t>10</a:t>
            </a:r>
            <a:endParaRPr sz="1050" b="0" i="0" dirty="0">
              <a:solidFill>
                <a:srgbClr val="898781"/>
              </a:solidFill>
              <a:latin typeface="Microsoft Jheng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633472"/>
            <a:ext cx="3291840" cy="607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800"/>
              </a:spcAft>
            </a:pP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潛銷期測試，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33</a:t>
            </a: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組受眾陸續上線</a:t>
            </a:r>
          </a:p>
          <a:p>
            <a:pPr>
              <a:lnSpc>
                <a:spcPts val="1700"/>
              </a:lnSpc>
              <a:spcAft>
                <a:spcPts val="800"/>
              </a:spcAft>
            </a:pP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CPL </a:t>
            </a:r>
            <a:r>
              <a:rPr sz="10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落在</a:t>
            </a: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NT$1,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055</a:t>
            </a: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，遠高於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潛銷期</a:t>
            </a: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NT$300目標</a:t>
            </a:r>
          </a:p>
        </p:txBody>
      </p:sp>
      <p:sp>
        <p:nvSpPr>
          <p:cNvPr id="12" name="Chevron 11"/>
          <p:cNvSpPr/>
          <p:nvPr/>
        </p:nvSpPr>
        <p:spPr>
          <a:xfrm>
            <a:off x="4178808" y="2743200"/>
            <a:ext cx="109728" cy="274320"/>
          </a:xfrm>
          <a:prstGeom prst="chevron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57600" cy="32461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dirty="0">
                <a:solidFill>
                  <a:srgbClr val="E06B4A"/>
                </a:solidFill>
                <a:latin typeface="Microsoft JhengHe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105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 err="1">
                <a:solidFill>
                  <a:srgbClr val="0B0B0B"/>
                </a:solidFill>
                <a:latin typeface="Microsoft JhengHei"/>
              </a:rPr>
              <a:t>加開副粉專＋核心受眾導入</a:t>
            </a:r>
            <a:endParaRPr sz="1550" b="1" i="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2286000"/>
            <a:ext cx="3291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898781"/>
                </a:solidFill>
                <a:latin typeface="Microsoft JhengHei"/>
              </a:rPr>
              <a:t>04/</a:t>
            </a:r>
            <a:r>
              <a:rPr lang="en-US" altLang="zh-TW" sz="1050" b="0" i="0" dirty="0">
                <a:solidFill>
                  <a:srgbClr val="898781"/>
                </a:solidFill>
                <a:latin typeface="Microsoft JhengHei"/>
              </a:rPr>
              <a:t>10</a:t>
            </a:r>
            <a:r>
              <a:rPr sz="1050" b="0" i="0" dirty="0">
                <a:solidFill>
                  <a:srgbClr val="898781"/>
                </a:solidFill>
                <a:latin typeface="Microsoft JhengHei"/>
              </a:rPr>
              <a:t> 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33472"/>
            <a:ext cx="3291840" cy="1787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800"/>
              </a:spcAft>
            </a:pP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</a:t>
            </a:r>
            <a:r>
              <a:rPr sz="10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開通副粉專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新稿吸引力，成效大幅提升，但僅維持到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月初，之後成效便大幅下滑</a:t>
            </a:r>
            <a:endParaRPr lang="en-US" altLang="zh-TW" sz="105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700"/>
              </a:lnSpc>
              <a:spcAft>
                <a:spcPts val="800"/>
              </a:spcAft>
            </a:pP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5/25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開始，透過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Claude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分析歸納出「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大核心受眾」</a:t>
            </a:r>
            <a:endParaRPr lang="en-US" altLang="zh-TW" sz="105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700"/>
              </a:lnSpc>
              <a:spcAft>
                <a:spcPts val="800"/>
              </a:spcAft>
            </a:pPr>
            <a:r>
              <a:rPr lang="en-US" altLang="zh-TW" sz="1050" b="1" i="1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050" b="1" i="1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股票、投資、房地產、不動產、管理、精品</a:t>
            </a:r>
            <a:endParaRPr lang="en-US" altLang="zh-TW" sz="1050" b="1" i="1" dirty="0">
              <a:solidFill>
                <a:srgbClr val="30B68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700"/>
              </a:lnSpc>
              <a:spcAft>
                <a:spcPts val="800"/>
              </a:spcAft>
            </a:pP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每組皆加入核心標籤，測試有效且成本逐漸降低</a:t>
            </a:r>
            <a:endParaRPr lang="en-US" altLang="zh-TW" sz="105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700"/>
              </a:lnSpc>
              <a:spcAft>
                <a:spcPts val="800"/>
              </a:spcAft>
            </a:pPr>
            <a:endParaRPr sz="105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7973568" y="2743200"/>
            <a:ext cx="109728" cy="274320"/>
          </a:xfrm>
          <a:prstGeom prst="chevron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92440" y="1417320"/>
            <a:ext cx="3657600" cy="32461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0B0B"/>
                </a:solidFill>
                <a:latin typeface="Microsoft JhengHei"/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105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 err="1">
                <a:solidFill>
                  <a:srgbClr val="0B0B0B"/>
                </a:solidFill>
                <a:latin typeface="Microsoft JhengHei"/>
              </a:rPr>
              <a:t>受眾迭代循環（SOP化</a:t>
            </a:r>
            <a:r>
              <a:rPr sz="1550" b="1" i="0" dirty="0">
                <a:solidFill>
                  <a:srgbClr val="0B0B0B"/>
                </a:solidFill>
                <a:latin typeface="Microsoft JhengHei"/>
              </a:rPr>
              <a:t>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Microsoft JhengHei"/>
              </a:rPr>
              <a:t>持續進行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33472"/>
            <a:ext cx="3291840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800"/>
              </a:spcAft>
            </a:pP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</a:t>
            </a:r>
            <a:r>
              <a:rPr sz="10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上傳受眾成效數據</a:t>
            </a: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sz="10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AI分析</a:t>
            </a: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sz="10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建議新受眾</a:t>
            </a:r>
            <a:endParaRPr sz="105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700"/>
              </a:lnSpc>
              <a:spcAft>
                <a:spcPts val="800"/>
              </a:spcAft>
            </a:pP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篩選適用受眾並微調地點</a:t>
            </a: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sz="10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抓取套用再測試</a:t>
            </a:r>
            <a:endParaRPr sz="105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700"/>
              </a:lnSpc>
              <a:spcAft>
                <a:spcPts val="800"/>
              </a:spcAft>
            </a:pPr>
            <a:r>
              <a: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</a:t>
            </a:r>
            <a:r>
              <a:rPr sz="10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副粉專CPL穩定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下降</a:t>
            </a:r>
            <a:endParaRPr lang="en-US" altLang="zh-TW" sz="105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4/10-5/03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$182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5/04-5/25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$692</a:t>
            </a: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5/26-6/25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$502 </a:t>
            </a:r>
            <a:r>
              <a:rPr lang="zh-TW" altLang="en-US" sz="1050" b="1" i="1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1050" b="1" i="1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5/25</a:t>
            </a:r>
            <a:r>
              <a:rPr lang="zh-TW" altLang="en-US" sz="1050" b="1" i="1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開始</a:t>
            </a:r>
            <a:r>
              <a:rPr lang="en-US" altLang="zh-TW" sz="1050" b="1" i="1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050" b="1" i="1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</a:t>
            </a:r>
            <a:endParaRPr lang="en-US" altLang="zh-TW" sz="1050" b="1" i="1" dirty="0">
              <a:solidFill>
                <a:srgbClr val="1BAF7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1200"/>
              </a:lnSpc>
              <a:spcAft>
                <a:spcPts val="800"/>
              </a:spcAft>
            </a:pP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6/26-7/21</a:t>
            </a:r>
            <a:r>
              <a:rPr lang="zh-TW" altLang="en-US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$317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92040"/>
            <a:ext cx="11155680" cy="1463040"/>
          </a:xfrm>
          <a:prstGeom prst="roundRect">
            <a:avLst>
              <a:gd name="adj" fmla="val 6000"/>
            </a:avLst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sz="105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5010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Microsoft JhengHei"/>
              </a:rPr>
              <a:t>其他策略細節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5486400" cy="6018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Aft>
                <a:spcPts val="800"/>
              </a:spcAft>
              <a:defRPr sz="105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sz="1200" dirty="0">
                <a:solidFill/>
              </a:rPr>
              <a:t>● </a:t>
            </a:r>
            <a:r>
              <a:rPr sz="1200" dirty="0" err="1">
                <a:solidFill/>
              </a:rPr>
              <a:t>分析時併入姊妹案「景立方一期」受眾數據交叉比對</a:t>
            </a:r>
            <a:r>
              <a:rPr lang="zh-TW" altLang="en-US" sz="1200" dirty="0">
                <a:solidFill/>
              </a:rPr>
              <a:t>。</a:t>
            </a:r>
            <a:endParaRPr sz="1200" dirty="0"/>
          </a:p>
          <a:p>
            <a:r>
              <a:rPr sz="1200" dirty="0">
                <a:solidFill/>
              </a:rPr>
              <a:t>● </a:t>
            </a:r>
            <a:r>
              <a:rPr sz="1200" dirty="0" err="1">
                <a:solidFill/>
              </a:rPr>
              <a:t>依「成效最差</a:t>
            </a:r>
            <a:r>
              <a:rPr sz="1200" dirty="0">
                <a:solidFill/>
              </a:rPr>
              <a:t> vs </a:t>
            </a:r>
            <a:r>
              <a:rPr sz="1200" dirty="0" err="1">
                <a:solidFill/>
              </a:rPr>
              <a:t>最好</a:t>
            </a:r>
            <a:r>
              <a:rPr sz="1200" dirty="0">
                <a:solidFill/>
              </a:rPr>
              <a:t>」</a:t>
            </a:r>
            <a:r>
              <a:rPr lang="zh-TW" altLang="en-US" sz="1200" dirty="0">
                <a:solidFill/>
              </a:rPr>
              <a:t>不同時期</a:t>
            </a:r>
            <a:r>
              <a:rPr sz="1200" dirty="0" err="1">
                <a:solidFill/>
              </a:rPr>
              <a:t>交叉比對，找出可複製</a:t>
            </a:r>
            <a:r>
              <a:rPr lang="zh-TW" altLang="en-US" sz="1200" dirty="0">
                <a:solidFill/>
              </a:rPr>
              <a:t>及排除</a:t>
            </a:r>
            <a:r>
              <a:rPr sz="1200" dirty="0" err="1">
                <a:solidFill/>
              </a:rPr>
              <a:t>的受眾</a:t>
            </a:r>
            <a:r>
              <a:rPr lang="zh-TW" altLang="en-US" sz="1200" dirty="0">
                <a:solidFill/>
              </a:rPr>
              <a:t>。</a:t>
            </a:r>
            <a:endParaRPr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6035040" y="5303520"/>
            <a:ext cx="5486400" cy="6018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Aft>
                <a:spcPts val="800"/>
              </a:spcAft>
              <a:defRPr sz="105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sz="1200" dirty="0">
                <a:solidFill/>
              </a:rPr>
              <a:t>● </a:t>
            </a:r>
            <a:r>
              <a:rPr sz="1200" dirty="0" err="1">
                <a:solidFill/>
              </a:rPr>
              <a:t>預算逐步從主粉專移轉到副粉專，拉高副粉專配比，提升名單量並降低CPL</a:t>
            </a:r>
            <a:r>
              <a:rPr lang="zh-TW" altLang="en-US" sz="1200" dirty="0">
                <a:solidFill/>
              </a:rPr>
              <a:t>。</a:t>
            </a:r>
            <a:endParaRPr sz="1200" dirty="0"/>
          </a:p>
          <a:p>
            <a:r>
              <a:rPr lang="zh-TW" altLang="en-US" sz="1200" dirty="0">
                <a:solidFill/>
              </a:rPr>
              <a:t>● 素材未做系統性測試，主要沿用既有有效稿面。</a:t>
            </a:r>
            <a:endParaRPr lang="zh-TW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898781"/>
                </a:solidFill>
                <a:latin typeface="Microsoft JhengHei"/>
              </a:rPr>
              <a:t>景立方層峰｜2026</a:t>
            </a:r>
            <a:r>
              <a:rPr lang="zh-TW" altLang="en-US" sz="900" dirty="0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上半年</a:t>
            </a:r>
            <a:r>
              <a:rPr sz="900" b="0" i="0" dirty="0" err="1">
                <a:solidFill>
                  <a:srgbClr val="898781"/>
                </a:solidFill>
                <a:latin typeface="Microsoft JhengHei"/>
              </a:rPr>
              <a:t>成效精選案例</a:t>
            </a:r>
            <a:endParaRPr sz="900" b="0" i="0" dirty="0">
              <a:solidFill>
                <a:srgbClr val="898781"/>
              </a:solidFill>
              <a:latin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B8F2964-D216-4A43-A280-C6ED922AF317}"/>
              </a:ext>
            </a:extLst>
          </p:cNvPr>
          <p:cNvSpPr/>
          <p:nvPr/>
        </p:nvSpPr>
        <p:spPr>
          <a:xfrm>
            <a:off x="8275320" y="4052048"/>
            <a:ext cx="2500256" cy="304800"/>
          </a:xfrm>
          <a:prstGeom prst="rect">
            <a:avLst/>
          </a:prstGeom>
          <a:noFill/>
          <a:ln w="28575">
            <a:solidFill>
              <a:srgbClr val="E0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Microsoft JhengHei"/>
              </a:rPr>
              <a:t>2</a:t>
            </a:r>
            <a:endParaRPr sz="2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TW" altLang="en-US" sz="2800" b="1" i="0" dirty="0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整體執行策略</a:t>
            </a:r>
            <a:r>
              <a:rPr lang="en-US" altLang="zh-TW" sz="2800" b="1" i="0" dirty="0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sz="2800" b="1" dirty="0" err="1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AI分析方法</a:t>
            </a:r>
            <a:endParaRPr sz="2800" b="1" dirty="0">
              <a:solidFill>
                <a:srgbClr val="0B0B0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898781"/>
                </a:solidFill>
                <a:latin typeface="Microsoft JhengHei"/>
              </a:rPr>
              <a:t>How We Used AI With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C7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AFFE4EB5-6953-4B8F-9659-EC46D1CAEF3A}"/>
              </a:ext>
            </a:extLst>
          </p:cNvPr>
          <p:cNvGrpSpPr/>
          <p:nvPr/>
        </p:nvGrpSpPr>
        <p:grpSpPr>
          <a:xfrm>
            <a:off x="685800" y="1463040"/>
            <a:ext cx="10698480" cy="1417320"/>
            <a:chOff x="685800" y="1463040"/>
            <a:chExt cx="10698480" cy="1417320"/>
          </a:xfrm>
        </p:grpSpPr>
        <p:sp>
          <p:nvSpPr>
            <p:cNvPr id="7" name="Rounded Rectangle 6"/>
            <p:cNvSpPr/>
            <p:nvPr/>
          </p:nvSpPr>
          <p:spPr>
            <a:xfrm>
              <a:off x="685800" y="1463040"/>
              <a:ext cx="5257800" cy="1417320"/>
            </a:xfrm>
            <a:prstGeom prst="roundRect">
              <a:avLst/>
            </a:prstGeom>
            <a:solidFill>
              <a:srgbClr val="FCFCFB"/>
            </a:solidFill>
            <a:ln w="12700">
              <a:solidFill>
                <a:srgbClr val="E1E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" y="1627632"/>
              <a:ext cx="489204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400" b="1">
                  <a:solidFill>
                    <a:srgbClr val="2A78D6"/>
                  </a:solidFill>
                  <a:latin typeface="Microsoft JhengHei"/>
                </a:defRPr>
              </a:lvl1pPr>
            </a:lstStyle>
            <a:p>
              <a:r>
                <a:rPr dirty="0"/>
                <a:t>方法1</a:t>
              </a:r>
              <a:r>
                <a:rPr lang="en-US" altLang="zh-TW" dirty="0"/>
                <a:t>-</a:t>
              </a:r>
              <a:r>
                <a:rPr dirty="0"/>
                <a:t>高轉換受眾興趣標籤分析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8680" y="2011680"/>
              <a:ext cx="4892040" cy="7772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100" b="0" dirty="0" err="1">
                  <a:solidFill>
                    <a:srgbClr val="52514E"/>
                  </a:solidFill>
                  <a:latin typeface="Microsoft JhengHei"/>
                </a:rPr>
                <a:t>把層峰主粉專與副粉專中，成效最好的幾組受眾之</a:t>
              </a:r>
              <a:r>
                <a:rPr sz="1100" b="1" dirty="0" err="1">
                  <a:solidFill>
                    <a:srgbClr val="E06B4A"/>
                  </a:solidFill>
                  <a:latin typeface="Microsoft JhengHei"/>
                </a:rPr>
                <a:t>詳細興趣標籤</a:t>
              </a:r>
              <a:r>
                <a:rPr sz="1100" b="0" dirty="0" err="1">
                  <a:solidFill>
                    <a:srgbClr val="52514E"/>
                  </a:solidFill>
                  <a:latin typeface="Microsoft JhengHei"/>
                </a:rPr>
                <a:t>數據交給Claude，藉此抓出可複製的核心受眾輪廓。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126480" y="1463040"/>
              <a:ext cx="5257800" cy="1417320"/>
            </a:xfrm>
            <a:prstGeom prst="roundRect">
              <a:avLst/>
            </a:prstGeom>
            <a:solidFill>
              <a:srgbClr val="FCFCFB"/>
            </a:solidFill>
            <a:ln w="12700">
              <a:solidFill>
                <a:srgbClr val="E1E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09360" y="1627632"/>
              <a:ext cx="489204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400" b="1" dirty="0">
                  <a:solidFill>
                    <a:srgbClr val="2A78D6"/>
                  </a:solidFill>
                  <a:latin typeface="Microsoft JhengHei"/>
                </a:rPr>
                <a:t>方法2</a:t>
              </a:r>
              <a:r>
                <a:rPr lang="en-US" altLang="zh-TW" sz="1400" b="1" dirty="0">
                  <a:solidFill>
                    <a:srgbClr val="2A78D6"/>
                  </a:solidFill>
                  <a:latin typeface="Microsoft JhengHei"/>
                </a:rPr>
                <a:t>-</a:t>
              </a:r>
              <a:r>
                <a:rPr sz="1400" b="1" dirty="0">
                  <a:solidFill>
                    <a:srgbClr val="2A78D6"/>
                  </a:solidFill>
                  <a:latin typeface="Microsoft JhengHei"/>
                </a:rPr>
                <a:t>特定地區數據分析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9360" y="2011680"/>
              <a:ext cx="4892040" cy="7772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lnSpc>
                  <a:spcPts val="1800"/>
                </a:lnSpc>
                <a:defRPr sz="1100" b="0">
                  <a:solidFill>
                    <a:srgbClr val="52514E"/>
                  </a:solidFill>
                  <a:latin typeface="Microsoft JhengHei"/>
                </a:defRPr>
              </a:lvl1pPr>
            </a:lstStyle>
            <a:p>
              <a:r>
                <a:rPr dirty="0" err="1"/>
                <a:t>餵入受眾名稱含「北屯</a:t>
              </a:r>
              <a:r>
                <a:rPr dirty="0"/>
                <a:t>」「</a:t>
              </a:r>
              <a:r>
                <a:rPr dirty="0" err="1"/>
                <a:t>中科」等地區關鍵字的成效數據，讓Claude篩選出</a:t>
              </a:r>
              <a:r>
                <a:rPr b="1" dirty="0" err="1">
                  <a:solidFill>
                    <a:srgbClr val="E06B4A"/>
                  </a:solidFill>
                </a:rPr>
                <a:t>適合層峰建案條件</a:t>
              </a:r>
              <a:r>
                <a:rPr dirty="0" err="1"/>
                <a:t>的受眾方向。例如中科系列（科技新貴</a:t>
              </a:r>
              <a:r>
                <a:rPr lang="en-US" altLang="zh-TW" dirty="0"/>
                <a:t>/</a:t>
              </a:r>
              <a:r>
                <a:rPr dirty="0" err="1"/>
                <a:t>工程師</a:t>
              </a:r>
              <a:r>
                <a:rPr lang="en-US" altLang="zh-TW" dirty="0"/>
                <a:t>/</a:t>
              </a:r>
              <a:r>
                <a:rPr dirty="0"/>
                <a:t>金融服務）CR多在1.5%–2.7%，明顯優於北屯在地系列的0.8%–1.2%。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685800" y="3017520"/>
            <a:ext cx="10698480" cy="2377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Microsoft JhengHei"/>
              </a:rPr>
              <a:t>景立方層峰｜2026上半年成效精選案例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Microsoft JhengHei"/>
              </a:rPr>
              <a:t>5</a:t>
            </a: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24855DCB-326C-45B7-BB8D-0D5E4AC0EA0E}"/>
              </a:ext>
            </a:extLst>
          </p:cNvPr>
          <p:cNvGrpSpPr/>
          <p:nvPr/>
        </p:nvGrpSpPr>
        <p:grpSpPr>
          <a:xfrm>
            <a:off x="685800" y="5493789"/>
            <a:ext cx="10698480" cy="731520"/>
            <a:chOff x="685800" y="5493789"/>
            <a:chExt cx="10698480" cy="731520"/>
          </a:xfrm>
        </p:grpSpPr>
        <p:sp>
          <p:nvSpPr>
            <p:cNvPr id="30" name="Rounded Rectangle 29"/>
            <p:cNvSpPr/>
            <p:nvPr/>
          </p:nvSpPr>
          <p:spPr>
            <a:xfrm>
              <a:off x="685800" y="5493789"/>
              <a:ext cx="10698480" cy="731520"/>
            </a:xfrm>
            <a:prstGeom prst="roundRect">
              <a:avLst/>
            </a:prstGeom>
            <a:solidFill>
              <a:srgbClr val="FCFCFB"/>
            </a:solidFill>
            <a:ln w="12700">
              <a:solidFill>
                <a:srgbClr val="E1E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68680" y="5603517"/>
              <a:ext cx="1033272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400" b="1">
                  <a:solidFill>
                    <a:srgbClr val="2A78D6"/>
                  </a:solidFill>
                  <a:latin typeface="Microsoft JhengHei"/>
                </a:defRPr>
              </a:lvl1pPr>
            </a:lstStyle>
            <a:p>
              <a:r>
                <a:rPr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法</a:t>
              </a:r>
              <a:r>
                <a:rPr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</a:t>
              </a:r>
              <a:r>
                <a:rPr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併入姊妹案交叉比對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68680" y="5859549"/>
              <a:ext cx="10332720" cy="32918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sz="1050" b="0" dirty="0" err="1">
                  <a:solidFill>
                    <a:srgbClr val="52514E"/>
                  </a:solidFill>
                  <a:latin typeface="Microsoft JhengHei"/>
                </a:rPr>
                <a:t>分析時把姊妹案「景立方一期</a:t>
              </a:r>
              <a:r>
                <a:rPr sz="1050" b="0" dirty="0">
                  <a:solidFill>
                    <a:srgbClr val="52514E"/>
                  </a:solidFill>
                  <a:latin typeface="Microsoft JhengHei"/>
                </a:rPr>
                <a:t>」（同建商、同商圈調性）的受眾成效數據併入交叉比對，用一期已驗證過的受眾邏輯優先判斷層峰該測哪些方向、避開已證實效果不好的組合，加快找到高效受眾的速度。</a:t>
              </a: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A3A39A0-0530-45FD-8155-52918564AC3D}"/>
              </a:ext>
            </a:extLst>
          </p:cNvPr>
          <p:cNvGrpSpPr/>
          <p:nvPr/>
        </p:nvGrpSpPr>
        <p:grpSpPr>
          <a:xfrm>
            <a:off x="868680" y="3150846"/>
            <a:ext cx="10332720" cy="2110788"/>
            <a:chOff x="868680" y="3182112"/>
            <a:chExt cx="10332720" cy="2110788"/>
          </a:xfrm>
        </p:grpSpPr>
        <p:sp>
          <p:nvSpPr>
            <p:cNvPr id="16" name="TextBox 15"/>
            <p:cNvSpPr txBox="1"/>
            <p:nvPr/>
          </p:nvSpPr>
          <p:spPr>
            <a:xfrm>
              <a:off x="868680" y="3182112"/>
              <a:ext cx="1033272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400" b="1">
                  <a:solidFill>
                    <a:srgbClr val="2A78D6"/>
                  </a:solidFill>
                  <a:latin typeface="Microsoft JhengHei"/>
                </a:defRPr>
              </a:lvl1pPr>
            </a:lstStyle>
            <a:p>
              <a:r>
                <a:rPr dirty="0"/>
                <a:t>方法3</a:t>
              </a:r>
              <a:r>
                <a:rPr lang="en-US" altLang="zh-TW" dirty="0"/>
                <a:t>-</a:t>
              </a:r>
              <a:r>
                <a:rPr dirty="0"/>
                <a:t>時間趨勢拆解：最差期 vs </a:t>
              </a:r>
              <a:r>
                <a:rPr dirty="0" err="1"/>
                <a:t>最好期受眾對比</a:t>
              </a:r>
              <a:endParaRPr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8680" y="3541754"/>
              <a:ext cx="10332720" cy="38404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00" b="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把受眾依上線時間切成4個階段，比對最差期與最好期的受眾組合，用來排除表現不好的、複製驗證有效的</a:t>
              </a:r>
              <a:r>
                <a:rPr lang="zh-TW" altLang="en-US" sz="1100" b="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受眾輪廓</a:t>
              </a:r>
              <a:r>
                <a:rPr sz="1100" b="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邏輯到後續規劃</a:t>
              </a:r>
              <a:r>
                <a:rPr sz="1100" b="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</a:t>
              </a: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04114177-D5CB-40F1-B936-81835C3A7C5E}"/>
                </a:ext>
              </a:extLst>
            </p:cNvPr>
            <p:cNvGrpSpPr/>
            <p:nvPr/>
          </p:nvGrpSpPr>
          <p:grpSpPr>
            <a:xfrm>
              <a:off x="868680" y="3829860"/>
              <a:ext cx="10332720" cy="1463040"/>
              <a:chOff x="868680" y="3977639"/>
              <a:chExt cx="10332720" cy="1463040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868680" y="3977639"/>
                <a:ext cx="5074920" cy="1463040"/>
              </a:xfrm>
              <a:prstGeom prst="roundRect">
                <a:avLst/>
              </a:prstGeom>
              <a:solidFill>
                <a:srgbClr val="FCEEE9"/>
              </a:solidFill>
              <a:ln w="12700">
                <a:solidFill>
                  <a:srgbClr val="F3CFC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051560" y="4114799"/>
                <a:ext cx="4709159" cy="18466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1200" b="1" dirty="0">
                    <a:solidFill>
                      <a:srgbClr val="E06B4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最差期｜5/04–5/25（CPL $692）→ </a:t>
                </a:r>
                <a:r>
                  <a:rPr lang="zh-TW" altLang="en-US" sz="1200" b="1" dirty="0">
                    <a:solidFill>
                      <a:srgbClr val="E06B4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可</a:t>
                </a:r>
                <a:r>
                  <a:rPr sz="1200" b="1" dirty="0" err="1">
                    <a:solidFill>
                      <a:srgbClr val="E06B4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排除對象</a:t>
                </a:r>
                <a:endParaRPr sz="1200" b="1" dirty="0">
                  <a:solidFill>
                    <a:srgbClr val="E06B4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051560" y="4389119"/>
                <a:ext cx="4937760" cy="89909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lnSpc>
                    <a:spcPts val="1800"/>
                  </a:lnSpc>
                  <a:defRPr sz="1100" b="0">
                    <a:solidFill>
                      <a:srgbClr val="52514E"/>
                    </a:solidFill>
                    <a:latin typeface="Microsoft JhengHei"/>
                  </a:defRPr>
                </a:lvl1pPr>
              </a:lstStyle>
              <a:p>
                <a:r>
                  <a:rPr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● 38組受眾中25組有留單，平均CR僅1.20%</a:t>
                </a:r>
              </a:p>
              <a:p>
                <a:r>
                  <a:rPr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● </a:t>
                </a:r>
                <a:r>
                  <a:rPr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多是北屯潭子這類地標搭配泛用生活標籤</a:t>
                </a: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較無</a:t>
                </a:r>
                <a:r>
                  <a:rPr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具體職業，多數只</a:t>
                </a: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收</a:t>
                </a:r>
                <a:r>
                  <a:rPr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</a:t>
                </a: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筆，</a:t>
                </a:r>
                <a:r>
                  <a:rPr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例：</a:t>
                </a:r>
                <a:endParaRPr lang="en-US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&gt;</a:t>
                </a:r>
                <a:r>
                  <a:rPr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北屯潭子</a:t>
                </a:r>
                <a:r>
                  <a:rPr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/在地剛需 CR1.20%</a:t>
                </a: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、</a:t>
                </a: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CPL$620</a:t>
                </a:r>
              </a:p>
              <a:p>
                <a:r>
                  <a:rPr 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&gt;</a:t>
                </a:r>
                <a:r>
                  <a:rPr dirty="0" err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北屯西屯</a:t>
                </a:r>
                <a:r>
                  <a:rPr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/雙語教育 CR0.97%</a:t>
                </a: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、</a:t>
                </a: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CPL$734</a:t>
                </a:r>
                <a:endParaRPr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6126480" y="3977639"/>
                <a:ext cx="5074920" cy="1463040"/>
              </a:xfrm>
              <a:prstGeom prst="roundRect">
                <a:avLst/>
              </a:prstGeom>
              <a:solidFill>
                <a:srgbClr val="EAF2FC"/>
              </a:solidFill>
              <a:ln w="12700">
                <a:solidFill>
                  <a:srgbClr val="C7DDF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309360" y="4114799"/>
                <a:ext cx="4709159" cy="18466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1200" b="1" dirty="0">
                    <a:solidFill>
                      <a:srgbClr val="2A78D6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最好期｜6/26–7/21（CPL $317，最新）→ </a:t>
                </a:r>
                <a:r>
                  <a:rPr lang="zh-TW" altLang="en-US" sz="1200" b="1" dirty="0">
                    <a:solidFill>
                      <a:srgbClr val="2A78D6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可</a:t>
                </a:r>
                <a:r>
                  <a:rPr sz="1200" b="1" dirty="0" err="1">
                    <a:solidFill>
                      <a:srgbClr val="2A78D6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複製對象</a:t>
                </a:r>
                <a:endParaRPr sz="1200" b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309360" y="4389119"/>
                <a:ext cx="4709159" cy="89652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lnSpc>
                    <a:spcPts val="1800"/>
                  </a:lnSpc>
                  <a:defRPr sz="1100" b="0">
                    <a:solidFill>
                      <a:srgbClr val="52514E"/>
                    </a:solidFill>
                    <a:latin typeface="Microsoft JhengHei"/>
                  </a:defRPr>
                </a:lvl1pPr>
              </a:lstStyle>
              <a:p>
                <a:r>
                  <a:rPr dirty="0"/>
                  <a:t>● 4組全數有留單，平均CR達1.88%</a:t>
                </a:r>
              </a:p>
              <a:p>
                <a:r>
                  <a:rPr dirty="0"/>
                  <a:t>● </a:t>
                </a:r>
                <a:r>
                  <a:rPr dirty="0" err="1"/>
                  <a:t>共同點是地標都搭配精準職業標籤（金融服務、管理職</a:t>
                </a:r>
                <a:r>
                  <a:rPr dirty="0"/>
                  <a:t>）</a:t>
                </a:r>
                <a:r>
                  <a:rPr lang="zh-TW" altLang="en-US" dirty="0"/>
                  <a:t>，</a:t>
                </a:r>
                <a:r>
                  <a:rPr dirty="0"/>
                  <a:t>例：</a:t>
                </a:r>
                <a:endParaRPr lang="en-US" dirty="0"/>
              </a:p>
              <a:p>
                <a:r>
                  <a:rPr lang="en-US" dirty="0"/>
                  <a:t>&gt;</a:t>
                </a:r>
                <a:r>
                  <a:rPr dirty="0" err="1"/>
                  <a:t>中科逢甲</a:t>
                </a:r>
                <a:r>
                  <a:rPr dirty="0"/>
                  <a:t>/金融服務電動車 CR2.71%、CPL$243</a:t>
                </a:r>
                <a:endParaRPr lang="en-US" dirty="0"/>
              </a:p>
              <a:p>
                <a:r>
                  <a:rPr lang="en-US" dirty="0"/>
                  <a:t>&gt;</a:t>
                </a:r>
                <a:r>
                  <a:rPr dirty="0"/>
                  <a:t>洲際+8/管理領導力精品 CR2.36%、CPL$270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Microsoft JhengHei"/>
              </a:rPr>
              <a:t>3</a:t>
            </a:r>
            <a:endParaRPr sz="2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Microsoft JhengHei"/>
              </a:rPr>
              <a:t>Before / After 成效呈現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主粉專 vs 副粉專 對照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189759"/>
              </p:ext>
            </p:extLst>
          </p:nvPr>
        </p:nvGraphicFramePr>
        <p:xfrm>
          <a:off x="502920" y="1463040"/>
          <a:ext cx="51206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29724"/>
              </p:ext>
            </p:extLst>
          </p:nvPr>
        </p:nvGraphicFramePr>
        <p:xfrm>
          <a:off x="5897880" y="1463040"/>
          <a:ext cx="5760720" cy="1846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68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指標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主粉專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副粉專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合計</a:t>
                      </a:r>
                      <a:endParaRPr sz="1200" b="1" dirty="0">
                        <a:solidFill>
                          <a:srgbClr val="FFFFFF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2514E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花費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NT$3</a:t>
                      </a:r>
                      <a:r>
                        <a:rPr lang="en-US" altLang="zh-TW"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</a:t>
                      </a:r>
                      <a:r>
                        <a:rPr lang="en-US" altLang="zh-TW"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707</a:t>
                      </a:r>
                      <a:endParaRPr sz="1200" b="0" dirty="0">
                        <a:solidFill>
                          <a:srgbClr val="0B0B0B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NT$119,</a:t>
                      </a:r>
                      <a:r>
                        <a:rPr lang="en-US" altLang="zh-TW"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106</a:t>
                      </a:r>
                      <a:endParaRPr sz="1200" b="0" dirty="0">
                        <a:solidFill>
                          <a:srgbClr val="0B0B0B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NT$15</a:t>
                      </a:r>
                      <a:r>
                        <a:rPr lang="en-US" altLang="zh-TW" sz="1200" b="1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sz="1200" b="1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</a:t>
                      </a:r>
                      <a:r>
                        <a:rPr lang="en-US" altLang="zh-TW" sz="1200" b="1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813</a:t>
                      </a:r>
                      <a:endParaRPr sz="1200" b="1" dirty="0">
                        <a:solidFill>
                          <a:srgbClr val="0B0B0B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6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2514E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潛客數</a:t>
                      </a:r>
                    </a:p>
                  </a:txBody>
                  <a:tcPr anchor="ctr"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 </a:t>
                      </a:r>
                      <a:r>
                        <a:rPr lang="zh-TW" altLang="en-US"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  <a:endParaRPr sz="1200" b="0" dirty="0">
                        <a:solidFill>
                          <a:srgbClr val="0B0B0B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312 </a:t>
                      </a:r>
                      <a:r>
                        <a:rPr lang="zh-TW" altLang="en-US"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  <a:endParaRPr sz="1200" b="0" dirty="0">
                        <a:solidFill>
                          <a:srgbClr val="0B0B0B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343 </a:t>
                      </a:r>
                      <a:r>
                        <a:rPr lang="zh-TW" altLang="en-US" sz="1200" b="1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筆</a:t>
                      </a:r>
                      <a:endParaRPr sz="1200" b="1" dirty="0">
                        <a:solidFill>
                          <a:srgbClr val="0B0B0B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2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682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52514E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CPL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NT$1,</a:t>
                      </a:r>
                      <a:r>
                        <a:rPr lang="en-US" altLang="zh-TW"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055</a:t>
                      </a:r>
                      <a:endParaRPr sz="1200" b="0" dirty="0">
                        <a:solidFill>
                          <a:srgbClr val="0B0B0B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NT$3</a:t>
                      </a:r>
                      <a:r>
                        <a:rPr lang="en-US" altLang="zh-TW" sz="1200" b="0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94</a:t>
                      </a:r>
                      <a:endParaRPr sz="1200" b="0" dirty="0">
                        <a:solidFill>
                          <a:srgbClr val="0B0B0B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NT$4</a:t>
                      </a:r>
                      <a:r>
                        <a:rPr lang="en-US" altLang="zh-TW" sz="1200" b="1" dirty="0">
                          <a:solidFill>
                            <a:srgbClr val="0B0B0B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</a:t>
                      </a:r>
                      <a:endParaRPr sz="1200" b="1" dirty="0">
                        <a:solidFill>
                          <a:srgbClr val="0B0B0B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897880" y="3501363"/>
            <a:ext cx="5760720" cy="2844573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BE64C689-444C-4570-9BB1-1746318CECFB}"/>
              </a:ext>
            </a:extLst>
          </p:cNvPr>
          <p:cNvGrpSpPr/>
          <p:nvPr/>
        </p:nvGrpSpPr>
        <p:grpSpPr>
          <a:xfrm>
            <a:off x="6126480" y="3529154"/>
            <a:ext cx="5303520" cy="2788989"/>
            <a:chOff x="6126480" y="3931920"/>
            <a:chExt cx="5303520" cy="2788989"/>
          </a:xfrm>
        </p:grpSpPr>
        <p:sp>
          <p:nvSpPr>
            <p:cNvPr id="10" name="TextBox 9"/>
            <p:cNvSpPr txBox="1"/>
            <p:nvPr/>
          </p:nvSpPr>
          <p:spPr>
            <a:xfrm>
              <a:off x="6126480" y="3931920"/>
              <a:ext cx="530352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300" b="1" i="0" dirty="0" err="1">
                  <a:solidFill>
                    <a:srgbClr val="E06B4A"/>
                  </a:solidFill>
                  <a:latin typeface="Microsoft JhengHei"/>
                </a:rPr>
                <a:t>副粉專最強受眾組</a:t>
              </a:r>
              <a:endParaRPr sz="1300" b="1" i="0" dirty="0">
                <a:solidFill>
                  <a:srgbClr val="E06B4A"/>
                </a:solidFill>
                <a:latin typeface="Microsoft JhengHe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26480" y="4199065"/>
              <a:ext cx="5303520" cy="25218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600"/>
                </a:spcAft>
              </a:pPr>
              <a:r>
                <a:rPr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 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副粉專初期成效最佳受眾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(4/10-5/9)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，共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151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筆</a:t>
              </a:r>
              <a:endPara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lnSpc>
                  <a:spcPct val="115000"/>
                </a:lnSpc>
                <a:spcAft>
                  <a:spcPts val="600"/>
                </a:spcAft>
              </a:pP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&gt;28-55/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南興公園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+6/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科技新貴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旅遊：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CPL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NT$153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40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筆</a:t>
              </a:r>
              <a:endPara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lnSpc>
                  <a:spcPct val="115000"/>
                </a:lnSpc>
                <a:spcAft>
                  <a:spcPts val="600"/>
                </a:spcAft>
              </a:pP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</a:t>
              </a:r>
              <a:r>
                <a:rPr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30-65/南興公園+6/</a:t>
              </a:r>
              <a:r>
                <a:rPr sz="105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父母成家興趣：CPL</a:t>
              </a:r>
              <a:r>
                <a:rPr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NT$1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34</a:t>
              </a:r>
              <a:r>
                <a:rPr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38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筆</a:t>
              </a:r>
              <a:endPara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lnSpc>
                  <a:spcPct val="115000"/>
                </a:lnSpc>
                <a:spcAft>
                  <a:spcPts val="600"/>
                </a:spcAft>
              </a:pP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</a:t>
              </a:r>
              <a:r>
                <a:rPr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30-65/南興公園+6/</a:t>
              </a:r>
              <a:r>
                <a:rPr sz="105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金融投資：CPL</a:t>
              </a:r>
              <a:r>
                <a:rPr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NT$25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  <a:r>
                <a:rPr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，2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筆</a:t>
              </a:r>
              <a:endParaRPr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lnSpc>
                  <a:spcPct val="115000"/>
                </a:lnSpc>
                <a:spcAft>
                  <a:spcPts val="600"/>
                </a:spcAft>
              </a:pPr>
              <a:r>
                <a:rPr sz="1050" b="1" i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3組合計貢獻</a:t>
              </a:r>
              <a:r>
                <a:rPr lang="zh-TW" altLang="en-US" sz="1050" b="1" i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該階段</a:t>
              </a:r>
              <a:r>
                <a:rPr sz="1050" b="1" i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約</a:t>
              </a:r>
              <a:r>
                <a:rPr lang="en-US" altLang="zh-TW" sz="1050" b="1" i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65</a:t>
              </a:r>
              <a:r>
                <a:rPr sz="1050" b="1" i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%的</a:t>
              </a:r>
              <a:r>
                <a:rPr lang="zh-TW" altLang="en-US" sz="1050" b="1" i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名單數</a:t>
              </a:r>
              <a:endParaRPr sz="1050" b="1" i="1" dirty="0">
                <a:solidFill>
                  <a:srgbClr val="2A78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 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5/25-7/21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共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122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筆，</a:t>
              </a:r>
              <a:r>
                <a:rPr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Claude在5/25後建議的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</a:t>
              </a:r>
              <a:r>
                <a:rPr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組受眾，合計貢獻9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筆</a:t>
              </a:r>
              <a:endPara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&gt;28-55/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中科逢甲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置產客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自營商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高收職業：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CPL NT$301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11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筆</a:t>
              </a:r>
              <a:endPara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&gt;35-60/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中科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主管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旅遊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投資置產：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CPL NT$374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11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筆</a:t>
              </a:r>
              <a:endPara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</a:t>
              </a:r>
              <a:r>
                <a:rPr sz="105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CPL最低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：中科逢甲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金融服務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電動車：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CPL NT$243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r>
                <a:rPr lang="en-US" altLang="zh-TW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</a:t>
              </a:r>
              <a:r>
                <a:rPr lang="zh-TW" altLang="en-US" sz="105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筆</a:t>
              </a:r>
              <a:endParaRPr lang="en-US" altLang="zh-TW" sz="10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lang="en-US" altLang="zh-TW" sz="1050" b="1" i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Claude</a:t>
              </a:r>
              <a:r>
                <a:rPr lang="zh-TW" altLang="en-US" sz="1050" b="1" i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合計貢獻該階段約</a:t>
              </a:r>
              <a:r>
                <a:rPr lang="en-US" altLang="zh-TW" sz="1050" b="1" i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78%</a:t>
              </a:r>
              <a:r>
                <a:rPr lang="zh-TW" altLang="en-US" sz="1050" b="1" i="1" dirty="0">
                  <a:solidFill>
                    <a:srgbClr val="2A78D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的名單數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502920" y="3566160"/>
            <a:ext cx="5120640" cy="27889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Microsoft JhengHei"/>
              </a:rPr>
              <a:t>副粉專 CPL 週期趨勢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898781"/>
                </a:solidFill>
                <a:latin typeface="Microsoft JhengHei"/>
              </a:rPr>
              <a:t>景立方層峰｜2026</a:t>
            </a:r>
            <a:r>
              <a:rPr lang="zh-TW" altLang="en-US" sz="900" dirty="0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上半年</a:t>
            </a:r>
            <a:r>
              <a:rPr sz="900" b="0" i="0" dirty="0" err="1">
                <a:solidFill>
                  <a:srgbClr val="898781"/>
                </a:solidFill>
                <a:latin typeface="Microsoft JhengHei"/>
              </a:rPr>
              <a:t>成效精選案例</a:t>
            </a:r>
            <a:endParaRPr sz="900" b="0" i="0" dirty="0">
              <a:solidFill>
                <a:srgbClr val="898781"/>
              </a:solidFill>
              <a:latin typeface="Microsoft Jheng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485151"/>
              </p:ext>
            </p:extLst>
          </p:nvPr>
        </p:nvGraphicFramePr>
        <p:xfrm>
          <a:off x="640080" y="4041648"/>
          <a:ext cx="484632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" y="612648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i="1">
                <a:solidFill>
                  <a:srgbClr val="8B909A"/>
                </a:solidFill>
                <a:latin typeface="Microsoft JhengHei"/>
              </a:rPr>
              <a:t>5/25 導入 Claude 分析受眾成效後，CPL 由 $692 回落至 $317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Microsoft JhengHei"/>
              </a:rPr>
              <a:t>4</a:t>
            </a:r>
            <a:endParaRPr sz="2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0B0B0B"/>
                </a:solidFill>
                <a:latin typeface="Microsoft JhengHei"/>
              </a:rPr>
              <a:t>數據洞察</a:t>
            </a:r>
            <a:r>
              <a:rPr lang="en-US" altLang="zh-TW" sz="2800" b="1" i="0" dirty="0">
                <a:solidFill>
                  <a:srgbClr val="0B0B0B"/>
                </a:solidFill>
                <a:latin typeface="Microsoft JhengHei"/>
              </a:rPr>
              <a:t>-1</a:t>
            </a:r>
            <a:endParaRPr sz="2800" b="1" i="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Data Insights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508760"/>
            <a:ext cx="11155680" cy="45720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A78D6"/>
                </a:solidFill>
                <a:latin typeface="Microsoft JhengHei"/>
              </a:rPr>
              <a:t>洞察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840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500" b="1" i="0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>
                <a:solidFill/>
              </a:rPr>
              <a:t>全案132天頻率從未進入疲乏區間</a:t>
            </a:r>
            <a:endParaRPr lang="en-US" altLang="zh-TW" dirty="0"/>
          </a:p>
          <a:p>
            <a:r>
              <a:rPr lang="zh-TW" altLang="en-US" dirty="0">
                <a:solidFill/>
              </a:rPr>
              <a:t>代表還有加碼空間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754880" y="1691640"/>
            <a:ext cx="6903720" cy="12633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lnSpc>
                <a:spcPts val="1500"/>
              </a:lnSpc>
            </a:pPr>
            <a:r>
              <a:rPr sz="1300" dirty="0">
                <a:solidFill>
                  <a:srgbClr val="52514E"/>
                </a:solidFill>
                <a:latin typeface="Microsoft JhengHei"/>
              </a:rPr>
              <a:t>● 一般認定的廣告疲乏警戒線落在頻率3.0以上</a:t>
            </a:r>
            <a:endParaRPr dirty="0"/>
          </a:p>
          <a:p>
            <a:r>
              <a:rPr sz="1300" dirty="0">
                <a:solidFill>
                  <a:srgbClr val="52514E"/>
                </a:solidFill>
                <a:latin typeface="Microsoft JhengHei"/>
              </a:rPr>
              <a:t>● 全案83組受眾組合（主粉專＋副粉專），頻率中位數僅1.34，最高到2.39</a:t>
            </a:r>
          </a:p>
          <a:p>
            <a:r>
              <a:rPr sz="1300" dirty="0">
                <a:solidFill>
                  <a:srgbClr val="52514E"/>
                </a:solidFill>
                <a:latin typeface="Microsoft JhengHei"/>
              </a:rPr>
              <a:t>&gt;未有任何一組觸及3.0的疲乏警戒線</a:t>
            </a:r>
          </a:p>
          <a:p>
            <a:r>
              <a:rPr sz="1300" dirty="0">
                <a:solidFill>
                  <a:srgbClr val="52514E"/>
                </a:solidFill>
                <a:latin typeface="Microsoft JhengHei"/>
              </a:rPr>
              <a:t>&gt;</a:t>
            </a:r>
            <a:r>
              <a:rPr sz="1300" dirty="0" err="1">
                <a:solidFill>
                  <a:srgbClr val="52514E"/>
                </a:solidFill>
                <a:latin typeface="Microsoft JhengHei"/>
              </a:rPr>
              <a:t>代表目前的瓶頸不是受眾疲乏，是預算／曝光量體還</a:t>
            </a:r>
            <a:r>
              <a:rPr lang="zh-TW" altLang="en-US" sz="1300" dirty="0">
                <a:solidFill>
                  <a:srgbClr val="52514E"/>
                </a:solidFill>
                <a:latin typeface="Microsoft JhengHei"/>
              </a:rPr>
              <a:t>有增長空間</a:t>
            </a:r>
            <a:endParaRPr sz="1300" dirty="0">
              <a:solidFill>
                <a:srgbClr val="52514E"/>
              </a:solidFill>
              <a:latin typeface="Microsoft Jheng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898781"/>
                </a:solidFill>
                <a:latin typeface="Microsoft JhengHei"/>
              </a:rPr>
              <a:t>景立方層峰｜2026</a:t>
            </a:r>
            <a:r>
              <a:rPr lang="zh-TW" altLang="en-US" sz="900" dirty="0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上半年</a:t>
            </a:r>
            <a:r>
              <a:rPr sz="900" b="0" i="0" dirty="0" err="1">
                <a:solidFill>
                  <a:srgbClr val="898781"/>
                </a:solidFill>
                <a:latin typeface="Microsoft JhengHei"/>
              </a:rPr>
              <a:t>成效精選案例</a:t>
            </a:r>
            <a:endParaRPr sz="900" b="0" i="0" dirty="0">
              <a:solidFill>
                <a:srgbClr val="898781"/>
              </a:solidFill>
              <a:latin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7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191666"/>
              </p:ext>
            </p:extLst>
          </p:nvPr>
        </p:nvGraphicFramePr>
        <p:xfrm>
          <a:off x="1188720" y="3246120"/>
          <a:ext cx="90525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761213" y="5943600"/>
            <a:ext cx="1907573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 dirty="0">
                <a:solidFill>
                  <a:srgbClr val="898781"/>
                </a:solidFill>
                <a:latin typeface="Microsoft JhengHei"/>
              </a:rPr>
              <a:t>83組裡沒有一組落在警戒區以上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Microsoft JhengHei"/>
              </a:rPr>
              <a:t>4</a:t>
            </a:r>
            <a:endParaRPr sz="2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0B0B0B"/>
                </a:solidFill>
                <a:latin typeface="Microsoft JhengHei"/>
              </a:rPr>
              <a:t>數據洞察</a:t>
            </a:r>
            <a:r>
              <a:rPr lang="en-US" altLang="zh-TW" sz="2800" b="1" i="0" dirty="0">
                <a:solidFill>
                  <a:srgbClr val="0B0B0B"/>
                </a:solidFill>
                <a:latin typeface="Microsoft JhengHei"/>
              </a:rPr>
              <a:t>-2</a:t>
            </a:r>
            <a:endParaRPr sz="2800" b="1" i="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Data Insights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379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898781"/>
                </a:solidFill>
                <a:latin typeface="Microsoft JhengHei"/>
              </a:rPr>
              <a:t>景立方層峰｜2026</a:t>
            </a:r>
            <a:r>
              <a:rPr lang="zh-TW" altLang="en-US" sz="900" dirty="0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上半年</a:t>
            </a:r>
            <a:r>
              <a:rPr sz="900" b="0" i="0" dirty="0" err="1">
                <a:solidFill>
                  <a:srgbClr val="898781"/>
                </a:solidFill>
                <a:latin typeface="Microsoft JhengHei"/>
              </a:rPr>
              <a:t>成效精選案例</a:t>
            </a:r>
            <a:endParaRPr sz="900" b="0" i="0" dirty="0">
              <a:solidFill>
                <a:srgbClr val="898781"/>
              </a:solidFill>
              <a:latin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1155680" cy="439091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dirty="0" err="1">
                <a:solidFill>
                  <a:srgbClr val="2A78D6"/>
                </a:solidFill>
                <a:latin typeface="Microsoft JhengHei"/>
              </a:rPr>
              <a:t>洞察</a:t>
            </a:r>
            <a:r>
              <a:rPr sz="1100" b="1" i="0" dirty="0">
                <a:solidFill>
                  <a:srgbClr val="2A78D6"/>
                </a:solidFill>
                <a:latin typeface="Microsoft JhengHei"/>
              </a:rPr>
              <a:t>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3840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500" b="1" i="0">
                <a:solidFill>
                  <a:srgbClr val="0B0B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>
                <a:solidFill/>
              </a:rPr>
              <a:t>每日型預算的固定上限</a:t>
            </a:r>
            <a:endParaRPr lang="en-US" altLang="zh-TW" dirty="0"/>
          </a:p>
          <a:p>
            <a:r>
              <a:rPr lang="zh-TW" altLang="en-US" dirty="0">
                <a:solidFill/>
              </a:rPr>
              <a:t>可能卡住了加碼空間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754880" y="1691640"/>
            <a:ext cx="66751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spcAft>
                <a:spcPts val="800"/>
              </a:spcAft>
              <a:defRPr sz="115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sz="1300" dirty="0">
                <a:solidFill>
                  <a:srgbClr val="52514E"/>
                </a:solidFill>
                <a:latin typeface="Microsoft JhengHei"/>
              </a:rPr>
              <a:t>● 總經費型35組CPL $326；每日型40組CPL $449，貴38%</a:t>
            </a:r>
            <a:endParaRPr lang="zh-TW" altLang="en-US" dirty="0"/>
          </a:p>
          <a:p>
            <a:r>
              <a:rPr sz="1300" dirty="0">
                <a:solidFill>
                  <a:srgbClr val="52514E"/>
                </a:solidFill>
                <a:latin typeface="Microsoft JhengHei"/>
              </a:rPr>
              <a:t>● </a:t>
            </a:r>
            <a:r>
              <a:rPr sz="1300" dirty="0" err="1">
                <a:solidFill>
                  <a:srgbClr val="52514E"/>
                </a:solidFill>
                <a:latin typeface="Microsoft JhengHei"/>
              </a:rPr>
              <a:t>關鍵不在「哪種類型比較好</a:t>
            </a:r>
            <a:r>
              <a:rPr sz="1300" dirty="0">
                <a:solidFill>
                  <a:srgbClr val="52514E"/>
                </a:solidFill>
                <a:latin typeface="Microsoft JhengHei"/>
              </a:rPr>
              <a:t>」，</a:t>
            </a:r>
            <a:r>
              <a:rPr sz="1300" dirty="0" err="1">
                <a:solidFill>
                  <a:srgbClr val="52514E"/>
                </a:solidFill>
                <a:latin typeface="Microsoft JhengHei"/>
              </a:rPr>
              <a:t>是每日型的預算上限普遍</a:t>
            </a:r>
            <a:r>
              <a:rPr lang="zh-TW" altLang="en-US" sz="1300" dirty="0">
                <a:solidFill>
                  <a:srgbClr val="52514E"/>
                </a:solidFill>
                <a:latin typeface="Microsoft JhengHei"/>
              </a:rPr>
              <a:t>偏</a:t>
            </a:r>
            <a:r>
              <a:rPr sz="1300" dirty="0">
                <a:solidFill>
                  <a:srgbClr val="52514E"/>
                </a:solidFill>
                <a:latin typeface="Microsoft JhengHei"/>
              </a:rPr>
              <a:t>低</a:t>
            </a:r>
          </a:p>
          <a:p>
            <a:r>
              <a:rPr sz="1300" dirty="0">
                <a:solidFill>
                  <a:srgbClr val="52514E"/>
                </a:solidFill>
                <a:latin typeface="Microsoft JhengHei"/>
              </a:rPr>
              <a:t>&gt;每日型40組裡，39組的每日預算卡在$200-300（中位數僅$300）</a:t>
            </a:r>
          </a:p>
          <a:p>
            <a:r>
              <a:rPr sz="1300" dirty="0">
                <a:solidFill>
                  <a:srgbClr val="52514E"/>
                </a:solidFill>
                <a:latin typeface="Microsoft JhengHei"/>
              </a:rPr>
              <a:t>&gt;</a:t>
            </a:r>
            <a:r>
              <a:rPr sz="1300" dirty="0" err="1">
                <a:solidFill>
                  <a:srgbClr val="52514E"/>
                </a:solidFill>
                <a:latin typeface="Microsoft JhengHei"/>
              </a:rPr>
              <a:t>這個金額比帳號平均CPL還低，等於表現好的組合每天能拿到的加碼空間</a:t>
            </a:r>
            <a:r>
              <a:rPr lang="zh-TW" altLang="en-US" sz="1300" dirty="0">
                <a:solidFill>
                  <a:srgbClr val="52514E"/>
                </a:solidFill>
                <a:latin typeface="Microsoft JhengHei"/>
              </a:rPr>
              <a:t>有限</a:t>
            </a:r>
            <a:endParaRPr sz="1300" dirty="0">
              <a:solidFill>
                <a:srgbClr val="52514E"/>
              </a:solidFill>
              <a:latin typeface="Microsoft JhengHei"/>
            </a:endParaRPr>
          </a:p>
        </p:txBody>
      </p:sp>
      <p:graphicFrame>
        <p:nvGraphicFramePr>
          <p:cNvPr id="21" name="Char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588977"/>
              </p:ext>
            </p:extLst>
          </p:nvPr>
        </p:nvGraphicFramePr>
        <p:xfrm>
          <a:off x="914400" y="3156470"/>
          <a:ext cx="9692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240280" y="6035040"/>
            <a:ext cx="21945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2A78D6"/>
                </a:solidFill>
                <a:latin typeface="Microsoft JhengHei"/>
              </a:rPr>
              <a:t>總經費型（22組）平均 CPL $326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6035040"/>
            <a:ext cx="21945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 dirty="0">
                <a:solidFill>
                  <a:srgbClr val="E06B4A"/>
                </a:solidFill>
                <a:latin typeface="Microsoft JhengHei"/>
              </a:rPr>
              <a:t>每日型（31組）平均 CPL $449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6178" y="6355080"/>
            <a:ext cx="4849083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 dirty="0" err="1">
                <a:solidFill>
                  <a:srgbClr val="898781"/>
                </a:solidFill>
                <a:latin typeface="Microsoft JhengHei"/>
              </a:rPr>
              <a:t>每一根柱子是一組受眾組合的</a:t>
            </a:r>
            <a:r>
              <a:rPr sz="1050" i="1" dirty="0">
                <a:solidFill>
                  <a:srgbClr val="898781"/>
                </a:solidFill>
                <a:latin typeface="Microsoft JhengHei"/>
              </a:rPr>
              <a:t> </a:t>
            </a:r>
            <a:r>
              <a:rPr sz="1050" i="1" dirty="0" err="1">
                <a:solidFill>
                  <a:srgbClr val="898781"/>
                </a:solidFill>
                <a:latin typeface="Microsoft JhengHei"/>
              </a:rPr>
              <a:t>CPL；每日型整體偏高、偏散，總經費型能壓得更低</a:t>
            </a:r>
            <a:endParaRPr sz="1050" i="1" dirty="0">
              <a:solidFill>
                <a:srgbClr val="898781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Microsoft JhengHei"/>
              </a:rPr>
              <a:t>4</a:t>
            </a:r>
            <a:endParaRPr sz="2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0B0B0B"/>
                </a:solidFill>
                <a:latin typeface="Microsoft JhengHei"/>
              </a:rPr>
              <a:t>數據洞察</a:t>
            </a:r>
            <a:r>
              <a:rPr lang="en-US" sz="2800" b="1" i="0" dirty="0">
                <a:solidFill>
                  <a:srgbClr val="0B0B0B"/>
                </a:solidFill>
                <a:latin typeface="Microsoft JhengHei"/>
              </a:rPr>
              <a:t>-3</a:t>
            </a:r>
            <a:endParaRPr sz="2800" b="1" i="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Data Insights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379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898781"/>
                </a:solidFill>
                <a:latin typeface="Microsoft JhengHei"/>
              </a:rPr>
              <a:t>景立方層峰｜2026</a:t>
            </a:r>
            <a:r>
              <a:rPr lang="zh-TW" altLang="en-US" sz="900" dirty="0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上半年</a:t>
            </a:r>
            <a:r>
              <a:rPr sz="900" b="0" i="0" dirty="0" err="1">
                <a:solidFill>
                  <a:srgbClr val="898781"/>
                </a:solidFill>
                <a:latin typeface="Microsoft JhengHei"/>
              </a:rPr>
              <a:t>成效精選案例</a:t>
            </a:r>
            <a:endParaRPr sz="900" b="0" i="0" dirty="0">
              <a:solidFill>
                <a:srgbClr val="898781"/>
              </a:solidFill>
              <a:latin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508760"/>
            <a:ext cx="11155680" cy="49377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459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dirty="0" err="1">
                <a:solidFill>
                  <a:srgbClr val="2A78D6"/>
                </a:solidFill>
                <a:latin typeface="Microsoft JhengHei"/>
              </a:rPr>
              <a:t>洞察</a:t>
            </a:r>
            <a:r>
              <a:rPr sz="1100" b="1" i="0" dirty="0">
                <a:solidFill>
                  <a:srgbClr val="2A78D6"/>
                </a:solidFill>
                <a:latin typeface="Microsoft JhengHei"/>
              </a:rPr>
              <a:t>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920240"/>
            <a:ext cx="3840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dirty="0" err="1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CTR高不代表真的</a:t>
            </a:r>
            <a:r>
              <a:rPr lang="zh-TW" altLang="en-US" sz="2000" b="1" dirty="0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划算</a:t>
            </a:r>
            <a:endParaRPr sz="2000" b="1" dirty="0">
              <a:solidFill>
                <a:srgbClr val="12151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sz="2000" b="1" dirty="0" err="1">
                <a:solidFill>
                  <a:srgbClr val="1215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CR才是關鍵</a:t>
            </a:r>
            <a:endParaRPr sz="2000" b="1" dirty="0">
              <a:solidFill>
                <a:srgbClr val="12151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54880" y="1691640"/>
            <a:ext cx="7040880" cy="1121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</a:t>
            </a:r>
            <a:r>
              <a:rPr sz="12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一般直覺：廣告CTR（點擊率）越高，代表受眾抓得越準</a:t>
            </a:r>
            <a:endParaRPr sz="1250" dirty="0">
              <a:solidFill>
                <a:srgbClr val="52514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600"/>
              </a:spcAft>
            </a:pPr>
            <a:r>
              <a:rPr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● 實際資料顯示：CTR跟CR（潛客／點擊）幾乎沒有關係，相關係數只有0.14</a:t>
            </a:r>
          </a:p>
          <a:p>
            <a:pPr>
              <a:spcAft>
                <a:spcPts val="600"/>
              </a:spcAft>
            </a:pPr>
            <a:r>
              <a:rPr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&gt;「南興公園+6</a:t>
            </a:r>
            <a:r>
              <a:rPr lang="en-US" altLang="zh-TW"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sz="12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政治</a:t>
            </a:r>
            <a:r>
              <a:rPr lang="en-US" altLang="zh-TW"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sz="12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置產</a:t>
            </a:r>
            <a:r>
              <a:rPr lang="en-US" altLang="zh-TW"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科技」CTR最高達3.99%，CR僅1.45%（5組潛客），CPL$280</a:t>
            </a:r>
          </a:p>
          <a:p>
            <a:pPr>
              <a:spcAft>
                <a:spcPts val="600"/>
              </a:spcAft>
            </a:pPr>
            <a:r>
              <a:rPr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&gt;「南興公園+6</a:t>
            </a:r>
            <a:r>
              <a:rPr lang="en-US" altLang="zh-TW"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sz="12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置產</a:t>
            </a:r>
            <a:r>
              <a:rPr lang="en-US" altLang="zh-TW"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sz="12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醫師</a:t>
            </a:r>
            <a:r>
              <a:rPr lang="en-US" altLang="zh-TW"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sz="1250" dirty="0" err="1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高管」CTR</a:t>
            </a:r>
            <a:r>
              <a:rPr lang="zh-TW" altLang="en-US"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最高達</a:t>
            </a:r>
            <a:r>
              <a:rPr sz="125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3.59%，CR達2.62%（16組潛客），CPL僅$202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968909"/>
              </p:ext>
            </p:extLst>
          </p:nvPr>
        </p:nvGraphicFramePr>
        <p:xfrm>
          <a:off x="1376062" y="3725407"/>
          <a:ext cx="90525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554480" y="6199053"/>
            <a:ext cx="90525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 dirty="0" err="1">
                <a:solidFill>
                  <a:srgbClr val="898781"/>
                </a:solidFill>
                <a:latin typeface="Microsoft JhengHei"/>
              </a:rPr>
              <a:t>點很分散，看不出由左下到右上的趨勢</a:t>
            </a:r>
            <a:r>
              <a:rPr sz="1050" i="1" dirty="0">
                <a:solidFill>
                  <a:srgbClr val="898781"/>
                </a:solidFill>
                <a:latin typeface="Microsoft JhengHei"/>
              </a:rPr>
              <a:t>——</a:t>
            </a:r>
            <a:r>
              <a:rPr sz="1050" i="1" dirty="0" err="1">
                <a:solidFill>
                  <a:srgbClr val="898781"/>
                </a:solidFill>
                <a:latin typeface="Microsoft JhengHei"/>
              </a:rPr>
              <a:t>CTR高低跟CR高低沒有明顯關聯</a:t>
            </a:r>
            <a:endParaRPr sz="1050" i="1" dirty="0">
              <a:solidFill>
                <a:srgbClr val="898781"/>
              </a:solidFill>
              <a:latin typeface="Microsoft JhengHei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2B56DA75-A8E0-4FC0-AE23-69E402F23DB2}"/>
              </a:ext>
            </a:extLst>
          </p:cNvPr>
          <p:cNvGrpSpPr/>
          <p:nvPr/>
        </p:nvGrpSpPr>
        <p:grpSpPr>
          <a:xfrm>
            <a:off x="1463040" y="2970007"/>
            <a:ext cx="9052560" cy="676655"/>
            <a:chOff x="1463040" y="2743200"/>
            <a:chExt cx="9052560" cy="676655"/>
          </a:xfrm>
        </p:grpSpPr>
        <p:sp>
          <p:nvSpPr>
            <p:cNvPr id="23" name="Rectangle 22"/>
            <p:cNvSpPr/>
            <p:nvPr/>
          </p:nvSpPr>
          <p:spPr>
            <a:xfrm>
              <a:off x="1463040" y="3054096"/>
              <a:ext cx="3168395" cy="137160"/>
            </a:xfrm>
            <a:prstGeom prst="rect">
              <a:avLst/>
            </a:prstGeom>
            <a:solidFill>
              <a:srgbClr val="E06B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631436" y="3054096"/>
              <a:ext cx="2715768" cy="137160"/>
            </a:xfrm>
            <a:prstGeom prst="rect">
              <a:avLst/>
            </a:prstGeom>
            <a:solidFill>
              <a:srgbClr val="E7E5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347204" y="3054096"/>
              <a:ext cx="3168396" cy="137160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463040" y="3218687"/>
              <a:ext cx="2011680" cy="20116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0">
                  <a:solidFill>
                    <a:srgbClr val="898781"/>
                  </a:solidFill>
                  <a:latin typeface="Microsoft JhengHei"/>
                </a:rPr>
                <a:t>-1（強負相關）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631436" y="3218687"/>
              <a:ext cx="2715768" cy="20116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800" b="0">
                  <a:solidFill>
                    <a:srgbClr val="898781"/>
                  </a:solidFill>
                  <a:latin typeface="Microsoft JhengHei"/>
                </a:rPr>
                <a:t>±0.3內＝幾乎無關聯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503920" y="3218687"/>
              <a:ext cx="2011680" cy="20116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sz="800" b="0">
                  <a:solidFill>
                    <a:srgbClr val="898781"/>
                  </a:solidFill>
                  <a:latin typeface="Microsoft JhengHei"/>
                </a:rPr>
                <a:t>+1（強正相關）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6569854" y="2990088"/>
              <a:ext cx="128016" cy="128016"/>
            </a:xfrm>
            <a:prstGeom prst="ellipse">
              <a:avLst/>
            </a:prstGeom>
            <a:solidFill>
              <a:srgbClr val="12151A"/>
            </a:solidFill>
            <a:ln w="158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902342" y="2743200"/>
              <a:ext cx="1463040" cy="219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00" b="1">
                  <a:solidFill>
                    <a:srgbClr val="12151A"/>
                  </a:solidFill>
                  <a:latin typeface="Microsoft JhengHei"/>
                </a:rPr>
                <a:t>r = 0.14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Microsoft JhengHei"/>
              </a:rPr>
              <a:t>5</a:t>
            </a:r>
            <a:endParaRPr sz="2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Microsoft JhengHei"/>
              </a:rPr>
              <a:t>本案檢討與未來改進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Retrospective &amp; Next Actions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1C42423-7A03-4179-87DD-82631BA43B3C}"/>
              </a:ext>
            </a:extLst>
          </p:cNvPr>
          <p:cNvGrpSpPr/>
          <p:nvPr/>
        </p:nvGrpSpPr>
        <p:grpSpPr>
          <a:xfrm>
            <a:off x="518160" y="2048256"/>
            <a:ext cx="11155680" cy="3867911"/>
            <a:chOff x="381000" y="1892808"/>
            <a:chExt cx="11155680" cy="3867911"/>
          </a:xfrm>
        </p:grpSpPr>
        <p:sp>
          <p:nvSpPr>
            <p:cNvPr id="7" name="Rounded Rectangle 6"/>
            <p:cNvSpPr/>
            <p:nvPr/>
          </p:nvSpPr>
          <p:spPr>
            <a:xfrm>
              <a:off x="381000" y="1892808"/>
              <a:ext cx="5440680" cy="3867911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rgbClr val="E1E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09600" y="2048256"/>
              <a:ext cx="49377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i="0" dirty="0" err="1">
                  <a:solidFill>
                    <a:srgbClr val="2A78D6"/>
                  </a:solidFill>
                  <a:latin typeface="Microsoft JhengHei"/>
                </a:rPr>
                <a:t>檢討</a:t>
              </a:r>
              <a:endParaRPr sz="1400" b="1" i="0" dirty="0">
                <a:solidFill>
                  <a:srgbClr val="2A78D6"/>
                </a:solidFill>
                <a:latin typeface="Microsoft JhengHei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9600" y="2487168"/>
              <a:ext cx="4937760" cy="26312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000"/>
                </a:lnSpc>
                <a:spcAft>
                  <a:spcPts val="1000"/>
                </a:spcAft>
              </a:pPr>
              <a:r>
                <a:rPr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 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主粉專CPL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一直都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沒有改善</a:t>
              </a:r>
              <a:r>
                <a:rPr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——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如果能更早看出「問題不是受眾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是這個帳號的流量結構本身就貴</a:t>
              </a:r>
              <a:r>
                <a:rPr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」，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可以提早止損，把預算更早轉往副粉專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</a:t>
              </a:r>
              <a:endParaRPr sz="13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lnSpc>
                  <a:spcPts val="2000"/>
                </a:lnSpc>
                <a:spcAft>
                  <a:spcPts val="1000"/>
                </a:spcAft>
              </a:pPr>
              <a:r>
                <a:rPr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 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覆盤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結果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CTR高低跟CR幾乎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無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關，但過程中容易憑CTR判斷受眾好壞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如果一開始就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將</a:t>
              </a:r>
              <a:r>
                <a:rPr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CR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及</a:t>
              </a:r>
              <a:r>
                <a:rPr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CTR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交叉比對</a:t>
              </a:r>
              <a:r>
                <a:rPr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便能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把預算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及時</a:t>
              </a:r>
              <a:r>
                <a:rPr sz="1300" dirty="0" err="1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導向真正轉換率高的受眾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</a:t>
              </a:r>
              <a:endParaRPr sz="13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lnSpc>
                  <a:spcPts val="2000"/>
                </a:lnSpc>
                <a:spcAft>
                  <a:spcPts val="1000"/>
                </a:spcAft>
              </a:pPr>
              <a:r>
                <a:rPr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 每日型預算的每日上限普遍卡在$200-300，比帳號平均CPL還低，等於就算某組受眾表現很好，也沒辦法單靠預算機制把它放大，這件事應該在案子中期就發現並調整</a:t>
              </a:r>
              <a:r>
                <a:rPr lang="zh-TW" altLang="en-US" sz="1300" dirty="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</a:t>
              </a:r>
              <a:endParaRPr sz="1300" dirty="0">
                <a:solidFill>
                  <a:srgbClr val="52514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096000" y="1892808"/>
              <a:ext cx="5440680" cy="3867910"/>
            </a:xfrm>
            <a:prstGeom prst="roundRect">
              <a:avLst>
                <a:gd name="adj" fmla="val 6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rgbClr val="E1E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24600" y="2048256"/>
              <a:ext cx="49377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i="0" dirty="0" err="1">
                  <a:solidFill>
                    <a:srgbClr val="E06B4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未來優化</a:t>
              </a:r>
              <a:r>
                <a:rPr lang="zh-TW" altLang="en-US" sz="1400" b="1" i="0" dirty="0">
                  <a:solidFill>
                    <a:srgbClr val="E06B4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方向</a:t>
              </a:r>
              <a:endParaRPr sz="1400" b="1" i="0" dirty="0">
                <a:solidFill>
                  <a:srgbClr val="E06B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24600" y="2487168"/>
              <a:ext cx="4937760" cy="1605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2000"/>
                </a:lnSpc>
                <a:spcAft>
                  <a:spcPts val="1000"/>
                </a:spcAft>
                <a:defRPr sz="1300">
                  <a:solidFill>
                    <a:srgbClr val="52514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r>
                <a:rPr dirty="0"/>
                <a:t>● </a:t>
              </a:r>
              <a:r>
                <a:rPr dirty="0" err="1"/>
                <a:t>延續「上傳成效→AI分析→受眾測試→再分析」SOP</a:t>
              </a:r>
              <a:r>
                <a:rPr lang="zh-TW" altLang="en-US" dirty="0"/>
                <a:t>。</a:t>
              </a:r>
              <a:endParaRPr lang="en-US" dirty="0"/>
            </a:p>
            <a:p>
              <a:r>
                <a:rPr lang="zh-TW" altLang="en-US" dirty="0"/>
                <a:t>● 優先用「總經費型」設定廣告組合，本案總經費型平均</a:t>
              </a:r>
              <a:r>
                <a:rPr lang="en-US" altLang="zh-TW" dirty="0"/>
                <a:t>CPL($326)</a:t>
              </a:r>
              <a:r>
                <a:rPr lang="zh-TW" altLang="en-US" dirty="0"/>
                <a:t>比每日型</a:t>
              </a:r>
              <a:r>
                <a:rPr lang="en-US" altLang="zh-TW" dirty="0"/>
                <a:t>($449)</a:t>
              </a:r>
              <a:r>
                <a:rPr lang="zh-TW" altLang="en-US" dirty="0"/>
                <a:t>低，避免每日上限卡住規模化空間。</a:t>
              </a:r>
              <a:endParaRPr lang="en-US" altLang="zh-TW" dirty="0"/>
            </a:p>
            <a:p>
              <a:r>
                <a:rPr lang="zh-TW" altLang="en-US" dirty="0"/>
                <a:t>● </a:t>
              </a:r>
              <a:r>
                <a:rPr lang="en-US" altLang="zh-TW" dirty="0"/>
                <a:t>CTR</a:t>
              </a:r>
              <a:r>
                <a:rPr lang="zh-TW" altLang="en-US" dirty="0"/>
                <a:t>高但</a:t>
              </a:r>
              <a:r>
                <a:rPr lang="en-US" altLang="zh-TW" dirty="0"/>
                <a:t>CR</a:t>
              </a:r>
              <a:r>
                <a:rPr lang="zh-TW" altLang="en-US" dirty="0"/>
                <a:t>低的組合，先不直接關閉，換一輪素材測試排除是不是</a:t>
              </a:r>
              <a:r>
                <a:rPr lang="en-US" altLang="zh-TW" dirty="0"/>
                <a:t>CTA</a:t>
              </a:r>
              <a:r>
                <a:rPr lang="zh-TW" altLang="en-US" dirty="0"/>
                <a:t>或素材沒接住轉換，再決定去留。</a:t>
              </a:r>
              <a:endParaRPr lang="en-US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502920" y="65379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898781"/>
                </a:solidFill>
                <a:latin typeface="Microsoft JhengHei"/>
              </a:rPr>
              <a:t>景立方層峰｜2026</a:t>
            </a:r>
            <a:r>
              <a:rPr lang="zh-TW" altLang="en-US" sz="900" dirty="0">
                <a:solidFill>
                  <a:srgbClr val="8B90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上半年</a:t>
            </a:r>
            <a:r>
              <a:rPr sz="900" b="0" i="0" dirty="0" err="1">
                <a:solidFill>
                  <a:srgbClr val="898781"/>
                </a:solidFill>
                <a:latin typeface="Microsoft JhengHei"/>
              </a:rPr>
              <a:t>成效精選案例</a:t>
            </a:r>
            <a:endParaRPr sz="900" b="0" i="0" dirty="0">
              <a:solidFill>
                <a:srgbClr val="898781"/>
              </a:solidFill>
              <a:latin typeface="Microsoft Jheng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2151A"/>
                </a:solidFill>
                <a:latin typeface="Microsoft JhengHei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景立方層峰｜2026</a:t>
            </a:r>
            <a:r>
              <a:rPr lang="zh-TW" altLang="en-US" sz="1500" b="0" i="0" dirty="0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上半年</a:t>
            </a:r>
            <a:r>
              <a:rPr sz="1500" b="0" i="0" dirty="0" err="1">
                <a:solidFill>
                  <a:srgbClr val="8987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成效精選案例</a:t>
            </a:r>
            <a:endParaRPr sz="1500" b="0" i="0" dirty="0">
              <a:solidFill>
                <a:srgbClr val="89878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2606040"/>
            <a:ext cx="4572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1644</Words>
  <Application>Microsoft Office PowerPoint</Application>
  <PresentationFormat>寬螢幕</PresentationFormat>
  <Paragraphs>233</Paragraphs>
  <Slides>11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旻蓁Lia 鍾</cp:lastModifiedBy>
  <cp:revision>55</cp:revision>
  <dcterms:created xsi:type="dcterms:W3CDTF">2013-01-27T09:14:16Z</dcterms:created>
  <dcterms:modified xsi:type="dcterms:W3CDTF">2026-07-22T09:55:40Z</dcterms:modified>
  <cp:category/>
</cp:coreProperties>
</file>