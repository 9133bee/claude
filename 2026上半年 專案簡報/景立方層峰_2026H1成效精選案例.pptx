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A78D6"/>
    <a:srgbClr val="30B68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71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1"/>
  <c:style val="2"/>
  <c:chart>
    <c:title>
      <c:tx>
        <c:rich>
          <a:bodyPr/>
          <a:lstStyle/>
          <a:p>
            <a:r>
              <a:rPr lang="zh-TW" altLang="en-US" sz="1300" b="1">
                <a:solidFill>
                  <a:srgbClr val="0B0B0B"/>
                </a:solidFill>
              </a:rPr>
              <a:t>每組潛客成本 </a:t>
            </a:r>
            <a:r>
              <a:rPr lang="en-US" altLang="zh-TW" sz="1300" b="1">
                <a:solidFill>
                  <a:srgbClr val="0B0B0B"/>
                </a:solidFill>
              </a:rPr>
              <a:t>CPL </a:t>
            </a:r>
            <a:r>
              <a:rPr lang="zh-TW" altLang="en-US" sz="1300" b="1">
                <a:solidFill>
                  <a:srgbClr val="0B0B0B"/>
                </a:solidFill>
              </a:rPr>
              <a:t>對照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CPL (NT$)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2A78D6"/>
              </a:solidFill>
            </c:spPr>
            <c:extLst>
              <c:ext xmlns:c16="http://schemas.microsoft.com/office/drawing/2014/chart" uri="{C3380CC4-5D6E-409C-BE32-E72D297353CC}">
                <c16:uniqueId val="{00000001-888E-4260-93F5-B4EFFCA8B97C}"/>
              </c:ext>
            </c:extLst>
          </c:dPt>
          <c:dPt>
            <c:idx val="1"/>
            <c:invertIfNegative val="1"/>
            <c:bubble3D val="0"/>
            <c:spPr>
              <a:solidFill>
                <a:srgbClr val="1BAF7A"/>
              </a:solidFill>
            </c:spPr>
            <c:extLst>
              <c:ext xmlns:c16="http://schemas.microsoft.com/office/drawing/2014/chart" uri="{C3380CC4-5D6E-409C-BE32-E72D297353CC}">
                <c16:uniqueId val="{00000003-888E-4260-93F5-B4EFFCA8B97C}"/>
              </c:ext>
            </c:extLst>
          </c:dPt>
          <c:dLbls>
            <c:numFmt formatCode="&quot;NT$&quot;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1">
                    <a:solidFill>
                      <a:srgbClr val="0B0B0B"/>
                    </a:solidFill>
                  </a:defRPr>
                </a:pPr>
                <a:endParaRPr lang="zh-TW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主粉專 (Before)</c:v>
                </c:pt>
                <c:pt idx="1">
                  <c:v>副粉專 (After)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1055</c:v>
                </c:pt>
                <c:pt idx="1">
                  <c:v>394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888E-4260-93F5-B4EFFCA8B97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E1E0D9"/>
            </a:solidFill>
          </a:ln>
        </c:spPr>
        <c:txPr>
          <a:bodyPr/>
          <a:lstStyle/>
          <a:p>
            <a:pPr>
              <a:defRPr sz="1100">
                <a:solidFill>
                  <a:srgbClr val="52514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pPr>
            <a:endParaRPr lang="zh-TW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zh-TW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副粉專 CPL (NT$)</c:v>
                </c:pt>
              </c:strCache>
            </c:strRef>
          </c:tx>
          <c:spPr>
            <a:ln w="28575">
              <a:solidFill>
                <a:srgbClr val="1BAF7A"/>
              </a:solidFill>
            </a:ln>
          </c:spPr>
          <c:marker>
            <c:symbol val="circle"/>
            <c:size val="8"/>
            <c:spPr>
              <a:solidFill>
                <a:srgbClr val="1BAF7A"/>
              </a:solidFill>
              <a:ln>
                <a:solidFill>
                  <a:srgbClr val="1BAF7A"/>
                </a:solidFill>
              </a:ln>
            </c:spPr>
          </c:marker>
          <c:dLbls>
            <c:numFmt formatCode="&quot;$&quot;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solidFill>
                      <a:srgbClr val="1BAF7A"/>
                    </a:solidFill>
                    <a:latin typeface="Microsoft JhengHei"/>
                  </a:defRPr>
                </a:pPr>
                <a:endParaRPr lang="zh-TW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4/10–5/03</c:v>
                </c:pt>
                <c:pt idx="1">
                  <c:v>5/04–5/25</c:v>
                </c:pt>
                <c:pt idx="2">
                  <c:v>5/26–6/25</c:v>
                </c:pt>
                <c:pt idx="3">
                  <c:v>6/26–7/21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182</c:v>
                </c:pt>
                <c:pt idx="1">
                  <c:v>692</c:v>
                </c:pt>
                <c:pt idx="2">
                  <c:v>502</c:v>
                </c:pt>
                <c:pt idx="3">
                  <c:v>317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2E6-417C-95B8-621136BD1495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FE2E6"/>
            </a:solidFill>
          </a:ln>
        </c:spPr>
        <c:txPr>
          <a:bodyPr/>
          <a:lstStyle/>
          <a:p>
            <a:pPr>
              <a:defRPr sz="1050">
                <a:solidFill>
                  <a:srgbClr val="898781"/>
                </a:solidFill>
                <a:latin typeface="Microsoft JhengHei"/>
              </a:defRPr>
            </a:pPr>
            <a:endParaRPr lang="zh-TW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800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2118791784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zh-TW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685800"/>
            <a:ext cx="10362895" cy="200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 dirty="0">
                <a:solidFill>
                  <a:srgbClr val="8B909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2026 </a:t>
            </a:r>
            <a:r>
              <a:rPr lang="zh-TW" altLang="en-US" sz="1300" dirty="0">
                <a:solidFill>
                  <a:srgbClr val="8B909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上半年</a:t>
            </a:r>
            <a:r>
              <a:rPr sz="1300" b="0" dirty="0" err="1">
                <a:solidFill>
                  <a:srgbClr val="8B909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成效精選案例分享</a:t>
            </a:r>
            <a:endParaRPr sz="1300" b="0" dirty="0">
              <a:solidFill>
                <a:srgbClr val="8B909A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914400" y="1024128"/>
            <a:ext cx="457200" cy="381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1207008"/>
            <a:ext cx="10362895" cy="615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4000" b="1">
                <a:solidFill>
                  <a:srgbClr val="12151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景立方層峰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295" y="1863651"/>
            <a:ext cx="10362895" cy="2308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dirty="0" err="1">
                <a:solidFill>
                  <a:srgbClr val="565C6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潛銷期成效優化</a:t>
            </a:r>
            <a:r>
              <a:rPr lang="zh-TW" altLang="en-US" sz="1500" b="0" dirty="0">
                <a:solidFill>
                  <a:srgbClr val="565C6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紀錄</a:t>
            </a:r>
            <a:endParaRPr sz="1500" b="0" dirty="0">
              <a:solidFill>
                <a:srgbClr val="565C66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8310282" y="4166153"/>
            <a:ext cx="2967013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28016" rIns="201168" bIns="128016" rtlCol="0" anchor="ctr"/>
          <a:lstStyle/>
          <a:p>
            <a:pPr algn="ctr">
              <a:spcAft>
                <a:spcPts val="600"/>
              </a:spcAft>
            </a:pPr>
            <a:r>
              <a:rPr sz="1150" b="0" dirty="0" err="1">
                <a:solidFill>
                  <a:srgbClr val="9AA0A8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地點</a:t>
            </a:r>
            <a:r>
              <a:rPr sz="1150" b="0" dirty="0">
                <a:solidFill>
                  <a:srgbClr val="9AA0A8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　</a:t>
            </a:r>
            <a:r>
              <a:rPr sz="1150" b="0" dirty="0" err="1">
                <a:solidFill>
                  <a:srgbClr val="4A505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台中市北屯區南興路</a:t>
            </a:r>
            <a:r>
              <a:rPr sz="1150" b="0" dirty="0">
                <a:solidFill>
                  <a:srgbClr val="4A505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x </a:t>
            </a:r>
            <a:r>
              <a:rPr sz="1150" b="0" dirty="0" err="1">
                <a:solidFill>
                  <a:srgbClr val="4A505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敦富一街</a:t>
            </a:r>
            <a:endParaRPr sz="1150" b="0" dirty="0">
              <a:solidFill>
                <a:srgbClr val="4A505A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spcAft>
                <a:spcPts val="600"/>
              </a:spcAft>
            </a:pPr>
            <a:r>
              <a:rPr sz="1150" b="0" dirty="0" err="1">
                <a:solidFill>
                  <a:srgbClr val="9AA0A8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格局</a:t>
            </a:r>
            <a:r>
              <a:rPr sz="1150" b="0" dirty="0">
                <a:solidFill>
                  <a:srgbClr val="9AA0A8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　</a:t>
            </a:r>
            <a:r>
              <a:rPr sz="1150" b="0" dirty="0">
                <a:solidFill>
                  <a:srgbClr val="4A505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三房36-37坪／四房42-44坪</a:t>
            </a:r>
          </a:p>
          <a:p>
            <a:pPr>
              <a:spcAft>
                <a:spcPts val="600"/>
              </a:spcAft>
            </a:pPr>
            <a:r>
              <a:rPr sz="1150" b="0" dirty="0" err="1">
                <a:solidFill>
                  <a:srgbClr val="9AA0A8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案型</a:t>
            </a:r>
            <a:r>
              <a:rPr sz="1150" b="0" dirty="0">
                <a:solidFill>
                  <a:srgbClr val="9AA0A8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　</a:t>
            </a:r>
            <a:r>
              <a:rPr sz="1150" b="0" dirty="0">
                <a:solidFill>
                  <a:srgbClr val="4A505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潛銷案，2029年上半年交屋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5623560"/>
            <a:ext cx="10362895" cy="12700"/>
          </a:xfrm>
          <a:prstGeom prst="rect">
            <a:avLst/>
          </a:prstGeom>
          <a:solidFill>
            <a:srgbClr val="DF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Oval 7"/>
          <p:cNvSpPr/>
          <p:nvPr/>
        </p:nvSpPr>
        <p:spPr>
          <a:xfrm>
            <a:off x="1287767" y="5588762"/>
            <a:ext cx="82296" cy="82296"/>
          </a:xfrm>
          <a:prstGeom prst="ellipse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5955" y="5312664"/>
            <a:ext cx="164592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 dirty="0">
                <a:solidFill>
                  <a:srgbClr val="3D434C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主粉專（3/12）</a:t>
            </a:r>
          </a:p>
        </p:txBody>
      </p:sp>
      <p:sp>
        <p:nvSpPr>
          <p:cNvPr id="10" name="Oval 9"/>
          <p:cNvSpPr/>
          <p:nvPr/>
        </p:nvSpPr>
        <p:spPr>
          <a:xfrm>
            <a:off x="3982120" y="5588762"/>
            <a:ext cx="82296" cy="82296"/>
          </a:xfrm>
          <a:prstGeom prst="ellipse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200308" y="5312664"/>
            <a:ext cx="164592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 dirty="0">
                <a:solidFill>
                  <a:srgbClr val="3D434C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副粉專（4/</a:t>
            </a:r>
            <a:r>
              <a:rPr lang="en-US" altLang="zh-TW" sz="1200" b="1" dirty="0">
                <a:solidFill>
                  <a:srgbClr val="3D434C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10</a:t>
            </a:r>
            <a:r>
              <a:rPr sz="1200" b="1" dirty="0">
                <a:solidFill>
                  <a:srgbClr val="3D434C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779008"/>
            <a:ext cx="6400800" cy="192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TW" altLang="en-US" sz="1250" dirty="0">
                <a:solidFill>
                  <a:srgbClr val="767C8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專案</a:t>
            </a:r>
            <a:r>
              <a:rPr sz="1250" b="0" dirty="0">
                <a:solidFill>
                  <a:srgbClr val="767C8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期間｜2026/03/12 – 2026/07/21（</a:t>
            </a:r>
            <a:r>
              <a:rPr lang="zh-TW" altLang="en-US" sz="1250" b="0" dirty="0">
                <a:solidFill>
                  <a:srgbClr val="767C8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共</a:t>
            </a:r>
            <a:r>
              <a:rPr sz="1250" b="0" dirty="0">
                <a:solidFill>
                  <a:srgbClr val="767C8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132天）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19695" y="5779008"/>
            <a:ext cx="3657600" cy="192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50" b="0" dirty="0" err="1">
                <a:solidFill>
                  <a:srgbClr val="767C8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報告人：</a:t>
            </a:r>
            <a:r>
              <a:rPr lang="en-US" sz="1250" b="1" dirty="0" err="1">
                <a:solidFill>
                  <a:srgbClr val="2A78D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Phoebe</a:t>
            </a:r>
            <a:endParaRPr sz="1250" b="1" dirty="0">
              <a:solidFill>
                <a:srgbClr val="2A78D6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6676473" y="5588812"/>
            <a:ext cx="82296" cy="82296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894661" y="5312664"/>
            <a:ext cx="1645920" cy="1847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200">
                <a:solidFill>
                  <a:srgbClr val="3D434C"/>
                </a:solidFill>
                <a:latin typeface="Microsoft JhengHei"/>
              </a:rPr>
              <a:t>AI分析（5/25）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0584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lang="zh-TW" altLang="en-US" sz="3000" b="1" i="0" dirty="0">
                <a:solidFill>
                  <a:srgbClr val="0B0B0B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目錄</a:t>
            </a:r>
            <a:endParaRPr sz="3000" b="1" i="0" dirty="0">
              <a:solidFill>
                <a:srgbClr val="0B0B0B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40080" y="146304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68680" y="1572768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2A78D6"/>
                </a:solidFill>
                <a:latin typeface="Microsoft JhengHe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536192"/>
            <a:ext cx="59436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 dirty="0" err="1">
                <a:solidFill>
                  <a:srgbClr val="0B0B0B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前情提要與成效</a:t>
            </a:r>
            <a:r>
              <a:rPr lang="zh-TW" altLang="en-US" sz="1700" b="1" i="0" dirty="0">
                <a:solidFill>
                  <a:srgbClr val="0B0B0B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核心</a:t>
            </a:r>
            <a:endParaRPr lang="en-US" sz="1700" b="1" i="0" dirty="0">
              <a:solidFill>
                <a:srgbClr val="0B0B0B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600200" y="1883664"/>
            <a:ext cx="8686800" cy="269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 dirty="0">
                <a:solidFill>
                  <a:srgbClr val="898781"/>
                </a:solidFill>
                <a:latin typeface="Microsoft JhengHei"/>
              </a:rPr>
              <a:t>背景、132天累計成效亮點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2316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2532888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2A78D6"/>
                </a:solidFill>
                <a:latin typeface="Microsoft JhengHe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496312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B0B0B"/>
                </a:solidFill>
                <a:latin typeface="Microsoft JhengHei"/>
              </a:rPr>
              <a:t>整體執行策略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843784"/>
            <a:ext cx="8686800" cy="269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 dirty="0" err="1">
                <a:solidFill>
                  <a:srgbClr val="8987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主粉專→副粉專→</a:t>
            </a:r>
            <a:r>
              <a:rPr lang="en-US" sz="1150" b="0" i="0" dirty="0" err="1">
                <a:solidFill>
                  <a:srgbClr val="8987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AI</a:t>
            </a:r>
            <a:r>
              <a:rPr lang="zh-TW" altLang="en-US" sz="1150" b="0" i="0" dirty="0">
                <a:solidFill>
                  <a:srgbClr val="8987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分析→</a:t>
            </a:r>
            <a:r>
              <a:rPr sz="1150" b="0" i="0" dirty="0" err="1">
                <a:solidFill>
                  <a:srgbClr val="8987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核心受眾導入→受眾迭代循環</a:t>
            </a:r>
            <a:endParaRPr sz="1150" b="0" i="0" dirty="0">
              <a:solidFill>
                <a:srgbClr val="89878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40080" y="338328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3493008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2A78D6"/>
                </a:solidFill>
                <a:latin typeface="Microsoft JhengHei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3456432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B0B0B"/>
                </a:solidFill>
                <a:latin typeface="Microsoft JhengHei"/>
              </a:rPr>
              <a:t>Before / After 成效呈現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3803904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98781"/>
                </a:solidFill>
                <a:latin typeface="Microsoft JhengHei"/>
              </a:rPr>
              <a:t>主粉專 vs 副粉專 CPL 對照、關鍵受眾組表現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3434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68680" y="4453128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2A78D6"/>
                </a:solidFill>
                <a:latin typeface="Microsoft JhengHei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4416552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B0B0B"/>
                </a:solidFill>
                <a:latin typeface="Microsoft JhengHei"/>
              </a:rPr>
              <a:t>3個數據洞察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4764024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98781"/>
                </a:solidFill>
                <a:latin typeface="Microsoft JhengHei"/>
              </a:rPr>
              <a:t>從實測數據中發現的非直覺現象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30352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8680" y="5413248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2A78D6"/>
                </a:solidFill>
                <a:latin typeface="Microsoft JhengHei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5376672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B0B0B"/>
                </a:solidFill>
                <a:latin typeface="Microsoft JhengHei"/>
              </a:rPr>
              <a:t>本案檢討與未來改進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0200" y="5724144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98781"/>
                </a:solidFill>
                <a:latin typeface="Microsoft JhengHei"/>
              </a:rPr>
              <a:t>客觀覆盤 + 具體優化行動方案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537960"/>
            <a:ext cx="54864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dirty="0">
                <a:solidFill>
                  <a:srgbClr val="898781"/>
                </a:solidFill>
                <a:latin typeface="Microsoft JhengHei"/>
              </a:rPr>
              <a:t>景立方層峰｜</a:t>
            </a:r>
            <a:r>
              <a:rPr lang="en-US" sz="900" b="0" i="0" dirty="0">
                <a:solidFill>
                  <a:srgbClr val="898781"/>
                </a:solidFill>
                <a:latin typeface="Microsoft JhengHei"/>
              </a:rPr>
              <a:t>2026</a:t>
            </a:r>
            <a:r>
              <a:rPr lang="zh-TW" altLang="en-US" sz="900" dirty="0">
                <a:solidFill>
                  <a:srgbClr val="8B909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上半年</a:t>
            </a:r>
            <a:r>
              <a:rPr sz="900" b="0" i="0" dirty="0" err="1">
                <a:solidFill>
                  <a:srgbClr val="898781"/>
                </a:solidFill>
                <a:latin typeface="Microsoft JhengHei"/>
              </a:rPr>
              <a:t>成效精選案例</a:t>
            </a:r>
            <a:endParaRPr sz="900" b="0" i="0" dirty="0">
              <a:solidFill>
                <a:srgbClr val="898781"/>
              </a:solidFill>
              <a:latin typeface="Microsoft JhengHe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0972800" y="65379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98781"/>
                </a:solidFill>
                <a:latin typeface="Microsoft Jheng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Oval 2"/>
          <p:cNvSpPr/>
          <p:nvPr/>
        </p:nvSpPr>
        <p:spPr>
          <a:xfrm>
            <a:off x="502920" y="411480"/>
            <a:ext cx="640080" cy="640080"/>
          </a:xfrm>
          <a:prstGeom prst="ellipse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365760"/>
            <a:ext cx="10058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 dirty="0" err="1">
                <a:solidFill>
                  <a:srgbClr val="0B0B0B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前情提要與成效</a:t>
            </a:r>
            <a:r>
              <a:rPr lang="zh-TW" altLang="en-US" sz="2800" b="1" dirty="0">
                <a:solidFill>
                  <a:srgbClr val="0B0B0B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核心</a:t>
            </a:r>
            <a:endParaRPr sz="2800" b="1" i="0" dirty="0">
              <a:solidFill>
                <a:srgbClr val="0B0B0B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325880" y="841248"/>
            <a:ext cx="100584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987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Background &amp; Core Results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234440"/>
            <a:ext cx="11292840" cy="0"/>
          </a:xfrm>
          <a:prstGeom prst="line">
            <a:avLst/>
          </a:prstGeom>
          <a:ln w="12700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02920" y="3337560"/>
            <a:ext cx="3566160" cy="3108960"/>
          </a:xfrm>
          <a:prstGeom prst="roundRect">
            <a:avLst>
              <a:gd name="adj" fmla="val 6000"/>
            </a:avLst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31520" y="3493008"/>
            <a:ext cx="310896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A78D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建案基本資料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886200"/>
            <a:ext cx="3108960" cy="13030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 dirty="0" err="1">
                <a:solidFill>
                  <a:srgbClr val="52514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地點：台中市北屯區南興路</a:t>
            </a:r>
            <a:r>
              <a:rPr sz="1150" b="0" i="0" dirty="0">
                <a:solidFill>
                  <a:srgbClr val="52514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x </a:t>
            </a:r>
            <a:r>
              <a:rPr sz="1150" b="0" i="0" dirty="0" err="1">
                <a:solidFill>
                  <a:srgbClr val="52514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敦富一街</a:t>
            </a:r>
            <a:endParaRPr sz="1150" b="0" i="0" dirty="0">
              <a:solidFill>
                <a:srgbClr val="52514E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l">
              <a:lnSpc>
                <a:spcPct val="140000"/>
              </a:lnSpc>
            </a:pPr>
            <a:r>
              <a:rPr sz="1150" b="0" i="0" dirty="0">
                <a:solidFill>
                  <a:srgbClr val="52514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格局：三房36-37坪／四房42-44坪</a:t>
            </a:r>
          </a:p>
          <a:p>
            <a:pPr algn="l">
              <a:lnSpc>
                <a:spcPct val="140000"/>
              </a:lnSpc>
            </a:pPr>
            <a:r>
              <a:rPr sz="1150" b="0" i="0" dirty="0" err="1">
                <a:solidFill>
                  <a:srgbClr val="52514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廣告目標：名單</a:t>
            </a:r>
            <a:endParaRPr lang="en-US" sz="1150" b="0" i="0" dirty="0">
              <a:solidFill>
                <a:srgbClr val="52514E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l">
              <a:lnSpc>
                <a:spcPct val="140000"/>
              </a:lnSpc>
            </a:pPr>
            <a:r>
              <a:rPr sz="1150" b="0" i="0" dirty="0">
                <a:solidFill>
                  <a:srgbClr val="52514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案型：潛銷案，2029年上半年交屋</a:t>
            </a:r>
          </a:p>
          <a:p>
            <a:pPr algn="l">
              <a:lnSpc>
                <a:spcPct val="140000"/>
              </a:lnSpc>
            </a:pPr>
            <a:r>
              <a:rPr sz="1150" b="0" i="0" dirty="0" err="1">
                <a:solidFill>
                  <a:srgbClr val="52514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廣告帳號：主粉專＋副粉專</a:t>
            </a:r>
            <a:endParaRPr sz="1150" b="0" i="0" dirty="0">
              <a:solidFill>
                <a:srgbClr val="52514E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251960" y="3337560"/>
            <a:ext cx="3657600" cy="3108960"/>
          </a:xfrm>
          <a:prstGeom prst="roundRect">
            <a:avLst>
              <a:gd name="adj" fmla="val 6000"/>
            </a:avLst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480560" y="3493008"/>
            <a:ext cx="32004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lang="zh-TW" altLang="en-US" sz="1300" b="1" i="0" dirty="0">
                <a:solidFill>
                  <a:srgbClr val="2A78D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過程及成果總結</a:t>
            </a:r>
            <a:endParaRPr sz="1300" b="1" i="0" dirty="0">
              <a:solidFill>
                <a:srgbClr val="2A78D6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092440" y="3337560"/>
            <a:ext cx="3566160" cy="3108960"/>
          </a:xfrm>
          <a:prstGeom prst="roundRect">
            <a:avLst>
              <a:gd name="adj" fmla="val 6000"/>
            </a:avLst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321040" y="3493008"/>
            <a:ext cx="310896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A78D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成效核心（132天累計）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8862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 dirty="0">
                <a:solidFill>
                  <a:srgbClr val="0CA30C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NT$4</a:t>
            </a:r>
            <a:r>
              <a:rPr lang="en-US" altLang="zh-TW" sz="2400" b="1" dirty="0">
                <a:solidFill>
                  <a:srgbClr val="0CA30C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43</a:t>
            </a:r>
            <a:endParaRPr sz="2400" b="1" i="0" dirty="0">
              <a:solidFill>
                <a:srgbClr val="0CA30C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321040" y="4343400"/>
            <a:ext cx="310896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987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整體平均 CPL（合計）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4727448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 dirty="0">
                <a:solidFill>
                  <a:srgbClr val="0CA30C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343 </a:t>
            </a:r>
            <a:r>
              <a:rPr lang="zh-TW" altLang="en-US" sz="2400" b="1" i="0" dirty="0">
                <a:solidFill>
                  <a:srgbClr val="0CA30C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筆</a:t>
            </a:r>
            <a:endParaRPr sz="2400" b="1" i="0" dirty="0">
              <a:solidFill>
                <a:srgbClr val="0CA30C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321040" y="5184648"/>
            <a:ext cx="310896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987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累計潛客數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5568696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 dirty="0">
                <a:solidFill>
                  <a:srgbClr val="0CA30C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↓ </a:t>
            </a:r>
            <a:r>
              <a:rPr lang="en-US" altLang="zh-TW" sz="2400" b="1" i="0" dirty="0">
                <a:solidFill>
                  <a:srgbClr val="0CA30C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3</a:t>
            </a:r>
            <a:r>
              <a:rPr sz="2400" b="1" i="0" dirty="0">
                <a:solidFill>
                  <a:srgbClr val="0CA30C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6025896"/>
            <a:ext cx="310896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dirty="0" err="1">
                <a:solidFill>
                  <a:srgbClr val="8987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副粉專啟動後</a:t>
            </a:r>
            <a:r>
              <a:rPr sz="1050" b="0" i="0" dirty="0">
                <a:solidFill>
                  <a:srgbClr val="8987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CPL </a:t>
            </a:r>
            <a:r>
              <a:rPr sz="1050" b="0" i="0" dirty="0" err="1">
                <a:solidFill>
                  <a:srgbClr val="8987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降幅</a:t>
            </a:r>
            <a:endParaRPr sz="1050" b="0" i="0" dirty="0">
              <a:solidFill>
                <a:srgbClr val="89878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02920" y="1371600"/>
            <a:ext cx="11155680" cy="1828797"/>
          </a:xfrm>
          <a:prstGeom prst="roundRect">
            <a:avLst>
              <a:gd name="adj" fmla="val 6000"/>
            </a:avLst>
          </a:prstGeom>
          <a:solidFill>
            <a:srgbClr val="ECF3FC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pSp>
        <p:nvGrpSpPr>
          <p:cNvPr id="12" name="群組 11">
            <a:extLst>
              <a:ext uri="{FF2B5EF4-FFF2-40B4-BE49-F238E27FC236}">
                <a16:creationId xmlns:a16="http://schemas.microsoft.com/office/drawing/2014/main" id="{A44AC25A-0E86-4BF5-86C7-80280650A472}"/>
              </a:ext>
            </a:extLst>
          </p:cNvPr>
          <p:cNvGrpSpPr/>
          <p:nvPr/>
        </p:nvGrpSpPr>
        <p:grpSpPr>
          <a:xfrm>
            <a:off x="685800" y="1453678"/>
            <a:ext cx="10927080" cy="1664207"/>
            <a:chOff x="708660" y="1543221"/>
            <a:chExt cx="10927080" cy="1664207"/>
          </a:xfrm>
        </p:grpSpPr>
        <p:sp>
          <p:nvSpPr>
            <p:cNvPr id="22" name="TextBox 21"/>
            <p:cNvSpPr txBox="1"/>
            <p:nvPr/>
          </p:nvSpPr>
          <p:spPr>
            <a:xfrm>
              <a:off x="731520" y="1543221"/>
              <a:ext cx="10698480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zh-TW" altLang="en-US" sz="1300" b="1" i="0" dirty="0">
                  <a:solidFill>
                    <a:srgbClr val="2A78D6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前情提要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708660" y="1826216"/>
              <a:ext cx="10927080" cy="138121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700"/>
                </a:lnSpc>
              </a:pPr>
              <a:r>
                <a:rPr lang="zh-TW" altLang="en-US" sz="120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● 初期僅投放主粉專（</a:t>
              </a:r>
              <a:r>
                <a:rPr lang="en-US" altLang="zh-TW" sz="120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3/12</a:t>
              </a:r>
              <a:r>
                <a:rPr lang="zh-TW" altLang="en-US" sz="120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），後來成效不佳加入副粉專（</a:t>
              </a:r>
              <a:r>
                <a:rPr lang="en-US" altLang="zh-TW" sz="120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4/10</a:t>
              </a:r>
              <a:r>
                <a:rPr lang="zh-TW" altLang="en-US" sz="120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）。</a:t>
              </a:r>
              <a:endParaRPr lang="en-US" sz="1200" dirty="0">
                <a:solidFill>
                  <a:srgbClr val="52514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  <a:p>
              <a:pPr>
                <a:lnSpc>
                  <a:spcPts val="1700"/>
                </a:lnSpc>
              </a:pPr>
              <a:r>
                <a:rPr sz="120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● </a:t>
              </a:r>
              <a:r>
                <a:rPr sz="1200" dirty="0" err="1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內部目標：潛銷期</a:t>
              </a:r>
              <a:r>
                <a:rPr sz="120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CPL </a:t>
              </a:r>
              <a:r>
                <a:rPr sz="1200" dirty="0" err="1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應壓在</a:t>
              </a:r>
              <a:r>
                <a:rPr sz="120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NT$300 </a:t>
              </a:r>
              <a:r>
                <a:rPr sz="1200" dirty="0" err="1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以下</a:t>
              </a:r>
              <a:r>
                <a:rPr lang="zh-TW" altLang="en-US" sz="120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。</a:t>
              </a:r>
              <a:endParaRPr sz="1200" dirty="0">
                <a:solidFill>
                  <a:srgbClr val="52514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  <a:p>
              <a:pPr>
                <a:lnSpc>
                  <a:spcPts val="1700"/>
                </a:lnSpc>
              </a:pPr>
              <a:r>
                <a:rPr sz="120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● </a:t>
              </a:r>
              <a:r>
                <a:rPr sz="1200" dirty="0" err="1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客戶痛點：潛銷期</a:t>
              </a:r>
              <a:r>
                <a:rPr lang="zh-TW" altLang="en-US" sz="120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想</a:t>
              </a:r>
              <a:r>
                <a:rPr sz="1200" dirty="0" err="1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短時間內快速累積名單，作為後續來客動能的基礎，但主粉專卻打不出成效，CPL遠高於目標</a:t>
              </a:r>
              <a:r>
                <a:rPr sz="120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。</a:t>
              </a:r>
            </a:p>
            <a:p>
              <a:pPr>
                <a:lnSpc>
                  <a:spcPts val="1700"/>
                </a:lnSpc>
              </a:pPr>
              <a:r>
                <a:rPr sz="120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● </a:t>
              </a:r>
              <a:r>
                <a:rPr sz="1200" dirty="0" err="1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競品</a:t>
              </a:r>
              <a:r>
                <a:rPr sz="120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/</a:t>
              </a:r>
              <a:r>
                <a:rPr sz="1200" dirty="0" err="1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區域市場</a:t>
              </a:r>
              <a:r>
                <a:rPr sz="120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：</a:t>
              </a:r>
              <a:endParaRPr lang="en-US" sz="1200" dirty="0">
                <a:solidFill>
                  <a:srgbClr val="52514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  <a:p>
              <a:pPr>
                <a:lnSpc>
                  <a:spcPts val="1700"/>
                </a:lnSpc>
              </a:pPr>
              <a:r>
                <a:rPr lang="en-US" altLang="zh-TW" sz="120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&gt;</a:t>
              </a:r>
              <a:r>
                <a:rPr sz="120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南興公園一帶近5年房價漲逾8成(33萬→60萬/坪)，</a:t>
              </a:r>
              <a:r>
                <a:rPr sz="1200" dirty="0" err="1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買氣熱但總價門檻高</a:t>
              </a:r>
              <a:r>
                <a:rPr sz="120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。</a:t>
              </a:r>
            </a:p>
            <a:p>
              <a:pPr>
                <a:lnSpc>
                  <a:spcPts val="1700"/>
                </a:lnSpc>
              </a:pPr>
              <a:r>
                <a:rPr lang="en-US" sz="120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&gt;</a:t>
              </a:r>
              <a:r>
                <a:rPr sz="120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層峰單坪價53-54萬、總價落點跟同區競品相近</a:t>
              </a:r>
              <a:r>
                <a:rPr lang="zh-TW" altLang="en-US" sz="120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，</a:t>
              </a:r>
              <a:r>
                <a:rPr sz="1200" dirty="0" err="1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但產品定位卡在遠雄敦富</a:t>
              </a:r>
              <a:r>
                <a:rPr sz="120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(</a:t>
              </a:r>
              <a:r>
                <a:rPr sz="1200" dirty="0" err="1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低總價走量</a:t>
              </a:r>
              <a:r>
                <a:rPr sz="120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)</a:t>
              </a:r>
              <a:r>
                <a:rPr sz="1200" dirty="0" err="1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跟漢宇雲衍</a:t>
              </a:r>
              <a:r>
                <a:rPr sz="120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(</a:t>
              </a:r>
              <a:r>
                <a:rPr sz="1200" dirty="0" err="1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重公設豪宅路線</a:t>
              </a:r>
              <a:r>
                <a:rPr sz="120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)</a:t>
              </a:r>
              <a:r>
                <a:rPr sz="1200" dirty="0" err="1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中間，缺乏鮮明差異化賣點</a:t>
              </a:r>
              <a:r>
                <a:rPr sz="120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。</a:t>
              </a:r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502920" y="6537960"/>
            <a:ext cx="54864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dirty="0">
                <a:solidFill>
                  <a:srgbClr val="8987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景立方層峰｜2026</a:t>
            </a:r>
            <a:r>
              <a:rPr lang="zh-TW" altLang="en-US" sz="900" dirty="0">
                <a:solidFill>
                  <a:srgbClr val="8B909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上半年</a:t>
            </a:r>
            <a:r>
              <a:rPr sz="900" b="0" i="0" dirty="0" err="1">
                <a:solidFill>
                  <a:srgbClr val="8987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成效精選案例</a:t>
            </a:r>
            <a:endParaRPr sz="900" b="0" i="0" dirty="0">
              <a:solidFill>
                <a:srgbClr val="89878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0972800" y="6537960"/>
            <a:ext cx="73152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987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80560" y="3877056"/>
            <a:ext cx="3200400" cy="329184"/>
          </a:xfrm>
          <a:prstGeom prst="roundRect">
            <a:avLst>
              <a:gd name="adj" fmla="val 18000"/>
            </a:avLst>
          </a:prstGeom>
          <a:solidFill>
            <a:srgbClr val="EAF2FC"/>
          </a:solidFill>
          <a:ln w="9525">
            <a:solidFill>
              <a:srgbClr val="C7D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150" b="1" dirty="0">
                <a:solidFill>
                  <a:srgbClr val="12151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① </a:t>
            </a:r>
            <a:r>
              <a:rPr lang="zh-TW" altLang="en-US" sz="1150" b="1" dirty="0">
                <a:solidFill>
                  <a:srgbClr val="12151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不定期</a:t>
            </a:r>
            <a:r>
              <a:rPr sz="1150" b="1" dirty="0" err="1">
                <a:solidFill>
                  <a:srgbClr val="12151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把受眾成效數據丟給</a:t>
            </a:r>
            <a:r>
              <a:rPr sz="1150" b="1" dirty="0">
                <a:solidFill>
                  <a:srgbClr val="12151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Claude</a:t>
            </a:r>
          </a:p>
        </p:txBody>
      </p:sp>
      <p:sp>
        <p:nvSpPr>
          <p:cNvPr id="27" name="Down Arrow 26"/>
          <p:cNvSpPr/>
          <p:nvPr/>
        </p:nvSpPr>
        <p:spPr>
          <a:xfrm>
            <a:off x="5989320" y="4206240"/>
            <a:ext cx="182880" cy="146304"/>
          </a:xfrm>
          <a:prstGeom prst="downArrow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4480560" y="4352544"/>
            <a:ext cx="3200400" cy="329184"/>
          </a:xfrm>
          <a:prstGeom prst="roundRect">
            <a:avLst>
              <a:gd name="adj" fmla="val 18000"/>
            </a:avLst>
          </a:prstGeom>
          <a:solidFill>
            <a:srgbClr val="EAF2FC"/>
          </a:solidFill>
          <a:ln w="9525">
            <a:solidFill>
              <a:srgbClr val="C7D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150" b="1" dirty="0">
                <a:solidFill>
                  <a:srgbClr val="12151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② Claude </a:t>
            </a:r>
            <a:r>
              <a:rPr sz="1150" b="1" dirty="0" err="1">
                <a:solidFill>
                  <a:srgbClr val="12151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分析</a:t>
            </a:r>
            <a:r>
              <a:rPr lang="zh-TW" altLang="en-US" sz="1150" b="1" dirty="0">
                <a:solidFill>
                  <a:srgbClr val="12151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可促成轉換的</a:t>
            </a:r>
            <a:r>
              <a:rPr sz="1150" b="1" dirty="0" err="1">
                <a:solidFill>
                  <a:srgbClr val="12151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受眾輪廓</a:t>
            </a:r>
            <a:endParaRPr sz="1150" b="1" dirty="0">
              <a:solidFill>
                <a:srgbClr val="12151A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9" name="Down Arrow 28"/>
          <p:cNvSpPr/>
          <p:nvPr/>
        </p:nvSpPr>
        <p:spPr>
          <a:xfrm>
            <a:off x="5989320" y="4681728"/>
            <a:ext cx="182880" cy="146304"/>
          </a:xfrm>
          <a:prstGeom prst="downArrow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4480560" y="4828032"/>
            <a:ext cx="3200400" cy="329184"/>
          </a:xfrm>
          <a:prstGeom prst="roundRect">
            <a:avLst>
              <a:gd name="adj" fmla="val 18000"/>
            </a:avLst>
          </a:prstGeom>
          <a:solidFill>
            <a:srgbClr val="EAF2FC"/>
          </a:solidFill>
          <a:ln w="9525">
            <a:solidFill>
              <a:srgbClr val="C7D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150" b="1" dirty="0">
                <a:solidFill>
                  <a:srgbClr val="12151A"/>
                </a:solidFill>
                <a:latin typeface="Microsoft JhengHei"/>
              </a:rPr>
              <a:t>③ </a:t>
            </a:r>
            <a:r>
              <a:rPr sz="1150" b="1" dirty="0" err="1">
                <a:solidFill>
                  <a:srgbClr val="12151A"/>
                </a:solidFill>
                <a:latin typeface="Microsoft JhengHei"/>
              </a:rPr>
              <a:t>延伸新受眾＋興趣標籤，上線測試</a:t>
            </a:r>
            <a:endParaRPr sz="1150" b="1" dirty="0">
              <a:solidFill>
                <a:srgbClr val="12151A"/>
              </a:solidFill>
              <a:latin typeface="Microsoft JhengHei"/>
            </a:endParaRPr>
          </a:p>
        </p:txBody>
      </p:sp>
      <p:sp>
        <p:nvSpPr>
          <p:cNvPr id="31" name="Down Arrow 30"/>
          <p:cNvSpPr/>
          <p:nvPr/>
        </p:nvSpPr>
        <p:spPr>
          <a:xfrm>
            <a:off x="5989320" y="5157216"/>
            <a:ext cx="182880" cy="146304"/>
          </a:xfrm>
          <a:prstGeom prst="downArrow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4480560" y="5303520"/>
            <a:ext cx="3200400" cy="329184"/>
          </a:xfrm>
          <a:prstGeom prst="roundRect">
            <a:avLst>
              <a:gd name="adj" fmla="val 18000"/>
            </a:avLst>
          </a:prstGeom>
          <a:solidFill>
            <a:srgbClr val="EAF2FC"/>
          </a:solidFill>
          <a:ln w="9525">
            <a:solidFill>
              <a:srgbClr val="C7D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150" b="1">
                <a:solidFill>
                  <a:srgbClr val="12151A"/>
                </a:solidFill>
                <a:latin typeface="Microsoft JhengHei"/>
              </a:rPr>
              <a:t>④ 成效再回饋給 Claude，持續迭代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5724144"/>
            <a:ext cx="320040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50" i="1" dirty="0">
                <a:solidFill>
                  <a:srgbClr val="8B909A"/>
                </a:solidFill>
                <a:latin typeface="Microsoft JhengHei"/>
              </a:rPr>
              <a:t>（</a:t>
            </a:r>
            <a:r>
              <a:rPr sz="950" i="1" dirty="0" err="1">
                <a:solidFill>
                  <a:srgbClr val="8B909A"/>
                </a:solidFill>
                <a:latin typeface="Microsoft JhengHei"/>
              </a:rPr>
              <a:t>依每輪成效持續反覆進行</a:t>
            </a:r>
            <a:r>
              <a:rPr sz="950" i="1" dirty="0">
                <a:solidFill>
                  <a:srgbClr val="8B909A"/>
                </a:solidFill>
                <a:latin typeface="Microsoft JhengHei"/>
              </a:rPr>
              <a:t>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80560" y="6016752"/>
            <a:ext cx="3200400" cy="357060"/>
          </a:xfrm>
          <a:prstGeom prst="roundRect">
            <a:avLst>
              <a:gd name="adj" fmla="val 18000"/>
            </a:avLst>
          </a:prstGeom>
          <a:solidFill>
            <a:srgbClr val="EAF7EE"/>
          </a:solidFill>
          <a:ln w="9525">
            <a:solidFill>
              <a:srgbClr val="BFE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 dirty="0" err="1">
                <a:solidFill>
                  <a:srgbClr val="1E8E3E"/>
                </a:solidFill>
                <a:latin typeface="Microsoft JhengHei"/>
              </a:rPr>
              <a:t>CPL：主</a:t>
            </a:r>
            <a:r>
              <a:rPr sz="1200" b="1" dirty="0">
                <a:solidFill>
                  <a:srgbClr val="1E8E3E"/>
                </a:solidFill>
                <a:latin typeface="Microsoft JhengHei"/>
              </a:rPr>
              <a:t> $1,055 → 副 $394（↓37%）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502920" y="411480"/>
            <a:ext cx="640080" cy="640080"/>
          </a:xfrm>
          <a:prstGeom prst="ellipse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B0B0B"/>
                </a:solidFill>
                <a:latin typeface="Microsoft JhengHei"/>
              </a:rPr>
              <a:t>整體執行策略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8412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98781"/>
                </a:solidFill>
                <a:latin typeface="Microsoft JhengHei"/>
              </a:rPr>
              <a:t>Strategy Timeline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234440"/>
            <a:ext cx="11292840" cy="0"/>
          </a:xfrm>
          <a:prstGeom prst="line">
            <a:avLst/>
          </a:prstGeom>
          <a:ln w="12700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02920" y="1417320"/>
            <a:ext cx="3657600" cy="3246120"/>
          </a:xfrm>
          <a:prstGeom prst="roundRect">
            <a:avLst>
              <a:gd name="adj" fmla="val 6000"/>
            </a:avLst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A78D6"/>
                </a:solidFill>
                <a:latin typeface="Microsoft JhengHei"/>
              </a:rPr>
              <a:t>Stage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810512"/>
            <a:ext cx="3291840" cy="330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lang="zh-TW" altLang="en-US" sz="1550" b="1" i="0" dirty="0">
                <a:solidFill>
                  <a:srgbClr val="0B0B0B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僅</a:t>
            </a:r>
            <a:r>
              <a:rPr sz="1550" b="1" i="0" dirty="0" err="1">
                <a:solidFill>
                  <a:srgbClr val="0B0B0B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主粉專</a:t>
            </a:r>
            <a:endParaRPr sz="1550" b="1" i="0" dirty="0">
              <a:solidFill>
                <a:srgbClr val="0B0B0B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85800" y="2286000"/>
            <a:ext cx="329184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dirty="0">
                <a:solidFill>
                  <a:srgbClr val="898781"/>
                </a:solidFill>
                <a:latin typeface="Microsoft JhengHei"/>
              </a:rPr>
              <a:t>03/12 – 04/</a:t>
            </a:r>
            <a:r>
              <a:rPr lang="en-US" altLang="zh-TW" sz="1050" b="0" i="0" dirty="0">
                <a:solidFill>
                  <a:srgbClr val="898781"/>
                </a:solidFill>
                <a:latin typeface="Microsoft JhengHei"/>
              </a:rPr>
              <a:t>10</a:t>
            </a:r>
            <a:endParaRPr sz="1050" b="0" i="0" dirty="0">
              <a:solidFill>
                <a:srgbClr val="898781"/>
              </a:solidFill>
              <a:latin typeface="Microsoft JhengHe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85800" y="2633472"/>
            <a:ext cx="3291840" cy="6073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700"/>
              </a:lnSpc>
              <a:spcAft>
                <a:spcPts val="800"/>
              </a:spcAft>
            </a:pPr>
            <a:r>
              <a:rPr sz="1050" dirty="0">
                <a:solidFill>
                  <a:srgbClr val="52514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● 潛銷期測試，</a:t>
            </a:r>
            <a:r>
              <a:rPr lang="en-US" altLang="zh-TW" sz="1050" dirty="0">
                <a:solidFill>
                  <a:srgbClr val="52514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33</a:t>
            </a:r>
            <a:r>
              <a:rPr sz="1050" dirty="0">
                <a:solidFill>
                  <a:srgbClr val="52514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組受眾陸續上線</a:t>
            </a:r>
          </a:p>
          <a:p>
            <a:pPr>
              <a:lnSpc>
                <a:spcPts val="1700"/>
              </a:lnSpc>
              <a:spcAft>
                <a:spcPts val="800"/>
              </a:spcAft>
            </a:pPr>
            <a:r>
              <a:rPr sz="1050" dirty="0">
                <a:solidFill>
                  <a:srgbClr val="52514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● CPL </a:t>
            </a:r>
            <a:r>
              <a:rPr sz="1050" dirty="0" err="1">
                <a:solidFill>
                  <a:srgbClr val="52514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落在</a:t>
            </a:r>
            <a:r>
              <a:rPr sz="1050" dirty="0">
                <a:solidFill>
                  <a:srgbClr val="52514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NT$1,</a:t>
            </a:r>
            <a:r>
              <a:rPr lang="en-US" altLang="zh-TW" sz="1050" dirty="0">
                <a:solidFill>
                  <a:srgbClr val="52514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055</a:t>
            </a:r>
            <a:r>
              <a:rPr sz="1050" dirty="0">
                <a:solidFill>
                  <a:srgbClr val="52514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，遠高於</a:t>
            </a:r>
            <a:r>
              <a:rPr lang="zh-TW" altLang="en-US" sz="1050" dirty="0">
                <a:solidFill>
                  <a:srgbClr val="52514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潛銷期</a:t>
            </a:r>
            <a:r>
              <a:rPr sz="1050" dirty="0">
                <a:solidFill>
                  <a:srgbClr val="52514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NT$300目標</a:t>
            </a:r>
          </a:p>
        </p:txBody>
      </p:sp>
      <p:sp>
        <p:nvSpPr>
          <p:cNvPr id="12" name="Chevron 11"/>
          <p:cNvSpPr/>
          <p:nvPr/>
        </p:nvSpPr>
        <p:spPr>
          <a:xfrm>
            <a:off x="4178808" y="2743200"/>
            <a:ext cx="109728" cy="274320"/>
          </a:xfrm>
          <a:prstGeom prst="chevron">
            <a:avLst/>
          </a:prstGeom>
          <a:solidFill>
            <a:srgbClr val="8987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297680" y="1417320"/>
            <a:ext cx="3657600" cy="3246120"/>
          </a:xfrm>
          <a:prstGeom prst="roundRect">
            <a:avLst>
              <a:gd name="adj" fmla="val 6000"/>
            </a:avLst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80560" y="15544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 dirty="0">
                <a:solidFill>
                  <a:srgbClr val="1BAF7A"/>
                </a:solidFill>
                <a:latin typeface="Microsoft JhengHei"/>
              </a:rPr>
              <a:t>Stage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1810512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 dirty="0" err="1">
                <a:solidFill>
                  <a:srgbClr val="0B0B0B"/>
                </a:solidFill>
                <a:latin typeface="Microsoft JhengHei"/>
              </a:rPr>
              <a:t>加開副粉專＋核心受眾導入</a:t>
            </a:r>
            <a:endParaRPr sz="1550" b="1" i="0" dirty="0">
              <a:solidFill>
                <a:srgbClr val="0B0B0B"/>
              </a:solidFill>
              <a:latin typeface="Microsoft JhengHe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480560" y="2286000"/>
            <a:ext cx="329184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dirty="0">
                <a:solidFill>
                  <a:srgbClr val="898781"/>
                </a:solidFill>
                <a:latin typeface="Microsoft JhengHei"/>
              </a:rPr>
              <a:t>04/</a:t>
            </a:r>
            <a:r>
              <a:rPr lang="en-US" altLang="zh-TW" sz="1050" b="0" i="0" dirty="0">
                <a:solidFill>
                  <a:srgbClr val="898781"/>
                </a:solidFill>
                <a:latin typeface="Microsoft JhengHei"/>
              </a:rPr>
              <a:t>10</a:t>
            </a:r>
            <a:r>
              <a:rPr sz="1050" b="0" i="0" dirty="0">
                <a:solidFill>
                  <a:srgbClr val="898781"/>
                </a:solidFill>
                <a:latin typeface="Microsoft JhengHei"/>
              </a:rPr>
              <a:t> 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633472"/>
            <a:ext cx="3291840" cy="17871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700"/>
              </a:lnSpc>
              <a:spcAft>
                <a:spcPts val="800"/>
              </a:spcAft>
            </a:pPr>
            <a:r>
              <a:rPr sz="1050" dirty="0">
                <a:solidFill>
                  <a:srgbClr val="52514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● </a:t>
            </a:r>
            <a:r>
              <a:rPr sz="1050" dirty="0" err="1">
                <a:solidFill>
                  <a:srgbClr val="52514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開通副粉專</a:t>
            </a:r>
            <a:r>
              <a:rPr lang="en-US" altLang="zh-TW" sz="1050" dirty="0">
                <a:solidFill>
                  <a:srgbClr val="52514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+</a:t>
            </a:r>
            <a:r>
              <a:rPr lang="zh-TW" altLang="en-US" sz="1050" dirty="0">
                <a:solidFill>
                  <a:srgbClr val="52514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新稿吸引力，成效大幅提升，但僅維持到</a:t>
            </a:r>
            <a:r>
              <a:rPr lang="en-US" altLang="zh-TW" sz="1050" dirty="0">
                <a:solidFill>
                  <a:srgbClr val="52514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5</a:t>
            </a:r>
            <a:r>
              <a:rPr lang="zh-TW" altLang="en-US" sz="1050" dirty="0">
                <a:solidFill>
                  <a:srgbClr val="52514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月初，之後成效便大幅下滑</a:t>
            </a:r>
            <a:endParaRPr lang="en-US" altLang="zh-TW" sz="1050" dirty="0">
              <a:solidFill>
                <a:srgbClr val="52514E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700"/>
              </a:lnSpc>
              <a:spcAft>
                <a:spcPts val="800"/>
              </a:spcAft>
            </a:pPr>
            <a:r>
              <a:rPr sz="1050" dirty="0">
                <a:solidFill>
                  <a:srgbClr val="52514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●</a:t>
            </a:r>
            <a:r>
              <a:rPr lang="zh-TW" altLang="en-US" sz="1050" dirty="0">
                <a:solidFill>
                  <a:srgbClr val="52514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050" dirty="0">
                <a:solidFill>
                  <a:srgbClr val="52514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5/25</a:t>
            </a:r>
            <a:r>
              <a:rPr lang="zh-TW" altLang="en-US" sz="1050" dirty="0">
                <a:solidFill>
                  <a:srgbClr val="52514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開始，透過</a:t>
            </a:r>
            <a:r>
              <a:rPr lang="en-US" altLang="zh-TW" sz="1050" dirty="0">
                <a:solidFill>
                  <a:srgbClr val="52514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Claude</a:t>
            </a:r>
            <a:r>
              <a:rPr lang="zh-TW" altLang="en-US" sz="1050" dirty="0">
                <a:solidFill>
                  <a:srgbClr val="52514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分析歸納出「</a:t>
            </a:r>
            <a:r>
              <a:rPr lang="en-US" altLang="zh-TW" sz="1050" dirty="0">
                <a:solidFill>
                  <a:srgbClr val="52514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6</a:t>
            </a:r>
            <a:r>
              <a:rPr lang="zh-TW" altLang="en-US" sz="1050" dirty="0">
                <a:solidFill>
                  <a:srgbClr val="52514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大核心受眾」</a:t>
            </a:r>
            <a:endParaRPr lang="en-US" altLang="zh-TW" sz="1050" dirty="0">
              <a:solidFill>
                <a:srgbClr val="52514E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700"/>
              </a:lnSpc>
              <a:spcAft>
                <a:spcPts val="800"/>
              </a:spcAft>
            </a:pPr>
            <a:r>
              <a:rPr lang="en-US" altLang="zh-TW" sz="1050" i="1" dirty="0">
                <a:solidFill>
                  <a:srgbClr val="30B68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&gt;</a:t>
            </a:r>
            <a:r>
              <a:rPr lang="zh-TW" altLang="en-US" sz="1050" i="1" dirty="0">
                <a:solidFill>
                  <a:srgbClr val="30B68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股票、投資、房地產、不動產、管理、精品</a:t>
            </a:r>
            <a:endParaRPr lang="en-US" altLang="zh-TW" sz="1050" i="1" dirty="0">
              <a:solidFill>
                <a:srgbClr val="30B686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700"/>
              </a:lnSpc>
              <a:spcAft>
                <a:spcPts val="800"/>
              </a:spcAft>
            </a:pPr>
            <a:r>
              <a:rPr lang="zh-TW" altLang="en-US" sz="1050" dirty="0">
                <a:solidFill>
                  <a:srgbClr val="52514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● 每組皆加入核心標籤，測試有效且成本逐漸降低</a:t>
            </a:r>
            <a:endParaRPr lang="en-US" altLang="zh-TW" sz="1050" dirty="0">
              <a:solidFill>
                <a:srgbClr val="52514E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700"/>
              </a:lnSpc>
              <a:spcAft>
                <a:spcPts val="800"/>
              </a:spcAft>
            </a:pPr>
            <a:endParaRPr sz="1050" dirty="0">
              <a:solidFill>
                <a:srgbClr val="52514E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" name="Chevron 17"/>
          <p:cNvSpPr/>
          <p:nvPr/>
        </p:nvSpPr>
        <p:spPr>
          <a:xfrm>
            <a:off x="7973568" y="2743200"/>
            <a:ext cx="109728" cy="274320"/>
          </a:xfrm>
          <a:prstGeom prst="chevron">
            <a:avLst/>
          </a:prstGeom>
          <a:solidFill>
            <a:srgbClr val="8987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092440" y="1417320"/>
            <a:ext cx="3657600" cy="3246120"/>
          </a:xfrm>
          <a:prstGeom prst="roundRect">
            <a:avLst>
              <a:gd name="adj" fmla="val 6000"/>
            </a:avLst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75320" y="15544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0B0B"/>
                </a:solidFill>
                <a:latin typeface="Microsoft JhengHei"/>
              </a:rPr>
              <a:t>Stage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810512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 dirty="0" err="1">
                <a:solidFill>
                  <a:srgbClr val="0B0B0B"/>
                </a:solidFill>
                <a:latin typeface="Microsoft JhengHei"/>
              </a:rPr>
              <a:t>受眾迭代循環（SOP化</a:t>
            </a:r>
            <a:r>
              <a:rPr sz="1550" b="1" i="0" dirty="0">
                <a:solidFill>
                  <a:srgbClr val="0B0B0B"/>
                </a:solidFill>
                <a:latin typeface="Microsoft JhengHei"/>
              </a:rPr>
              <a:t>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228600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98781"/>
                </a:solidFill>
                <a:latin typeface="Microsoft JhengHei"/>
              </a:rPr>
              <a:t>持續進行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2633472"/>
            <a:ext cx="3291840" cy="1977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700"/>
              </a:lnSpc>
              <a:spcAft>
                <a:spcPts val="800"/>
              </a:spcAft>
            </a:pPr>
            <a:r>
              <a:rPr sz="1050" dirty="0">
                <a:solidFill>
                  <a:srgbClr val="52514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● </a:t>
            </a:r>
            <a:r>
              <a:rPr sz="1050" dirty="0" err="1">
                <a:solidFill>
                  <a:srgbClr val="52514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上傳受眾成效數據</a:t>
            </a:r>
            <a:r>
              <a:rPr sz="1050" dirty="0">
                <a:solidFill>
                  <a:srgbClr val="52514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→ </a:t>
            </a:r>
            <a:r>
              <a:rPr sz="1050" dirty="0" err="1">
                <a:solidFill>
                  <a:srgbClr val="52514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AI分析</a:t>
            </a:r>
            <a:r>
              <a:rPr sz="1050" dirty="0">
                <a:solidFill>
                  <a:srgbClr val="52514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→ </a:t>
            </a:r>
            <a:r>
              <a:rPr sz="1050" dirty="0" err="1">
                <a:solidFill>
                  <a:srgbClr val="52514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建議新受眾</a:t>
            </a:r>
            <a:endParaRPr sz="1050" dirty="0">
              <a:solidFill>
                <a:srgbClr val="52514E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700"/>
              </a:lnSpc>
              <a:spcAft>
                <a:spcPts val="800"/>
              </a:spcAft>
            </a:pPr>
            <a:r>
              <a:rPr sz="1050" dirty="0">
                <a:solidFill>
                  <a:srgbClr val="52514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● </a:t>
            </a:r>
            <a:r>
              <a:rPr lang="zh-TW" altLang="en-US" sz="1050" dirty="0">
                <a:solidFill>
                  <a:srgbClr val="52514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篩選適用受眾並微調地點</a:t>
            </a:r>
            <a:r>
              <a:rPr sz="1050" dirty="0">
                <a:solidFill>
                  <a:srgbClr val="52514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→ </a:t>
            </a:r>
            <a:r>
              <a:rPr sz="1050" dirty="0" err="1">
                <a:solidFill>
                  <a:srgbClr val="52514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抓取套用再測試</a:t>
            </a:r>
            <a:endParaRPr sz="1050" dirty="0">
              <a:solidFill>
                <a:srgbClr val="52514E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700"/>
              </a:lnSpc>
              <a:spcAft>
                <a:spcPts val="800"/>
              </a:spcAft>
            </a:pPr>
            <a:r>
              <a:rPr sz="1050" dirty="0">
                <a:solidFill>
                  <a:srgbClr val="52514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● </a:t>
            </a:r>
            <a:r>
              <a:rPr sz="1050" dirty="0" err="1">
                <a:solidFill>
                  <a:srgbClr val="52514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副粉專CPL穩定</a:t>
            </a:r>
            <a:r>
              <a:rPr lang="zh-TW" altLang="en-US" sz="1050" dirty="0">
                <a:solidFill>
                  <a:srgbClr val="52514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下降</a:t>
            </a:r>
            <a:endParaRPr lang="en-US" altLang="zh-TW" sz="1050" dirty="0">
              <a:solidFill>
                <a:srgbClr val="52514E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200"/>
              </a:lnSpc>
              <a:spcAft>
                <a:spcPts val="800"/>
              </a:spcAft>
            </a:pPr>
            <a:r>
              <a:rPr lang="en-US" altLang="zh-TW" sz="1050" dirty="0">
                <a:solidFill>
                  <a:srgbClr val="52514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4/10-5/03</a:t>
            </a:r>
            <a:r>
              <a:rPr lang="zh-TW" altLang="en-US" sz="1050" dirty="0">
                <a:solidFill>
                  <a:srgbClr val="52514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→ </a:t>
            </a:r>
            <a:r>
              <a:rPr lang="en-US" altLang="zh-TW" sz="1050" dirty="0">
                <a:solidFill>
                  <a:srgbClr val="52514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$182</a:t>
            </a:r>
          </a:p>
          <a:p>
            <a:pPr>
              <a:lnSpc>
                <a:spcPts val="1200"/>
              </a:lnSpc>
              <a:spcAft>
                <a:spcPts val="800"/>
              </a:spcAft>
            </a:pPr>
            <a:r>
              <a:rPr lang="en-US" altLang="zh-TW" sz="1050" dirty="0">
                <a:solidFill>
                  <a:srgbClr val="52514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5/04-5/25</a:t>
            </a:r>
            <a:r>
              <a:rPr lang="zh-TW" altLang="en-US" sz="1050" dirty="0">
                <a:solidFill>
                  <a:srgbClr val="52514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→ </a:t>
            </a:r>
            <a:r>
              <a:rPr lang="en-US" altLang="zh-TW" sz="1050" dirty="0">
                <a:solidFill>
                  <a:srgbClr val="52514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$692</a:t>
            </a:r>
          </a:p>
          <a:p>
            <a:pPr>
              <a:lnSpc>
                <a:spcPts val="1200"/>
              </a:lnSpc>
              <a:spcAft>
                <a:spcPts val="800"/>
              </a:spcAft>
            </a:pPr>
            <a:r>
              <a:rPr lang="en-US" altLang="zh-TW" sz="1050" dirty="0">
                <a:solidFill>
                  <a:srgbClr val="52514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5/26-6/25</a:t>
            </a:r>
            <a:r>
              <a:rPr lang="zh-TW" altLang="en-US" sz="1050" dirty="0">
                <a:solidFill>
                  <a:srgbClr val="52514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→ </a:t>
            </a:r>
            <a:r>
              <a:rPr lang="en-US" altLang="zh-TW" sz="1050" dirty="0">
                <a:solidFill>
                  <a:srgbClr val="52514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$502 </a:t>
            </a:r>
            <a:r>
              <a:rPr lang="zh-TW" altLang="en-US" sz="1050" b="1" dirty="0">
                <a:solidFill>
                  <a:srgbClr val="30B68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→</a:t>
            </a:r>
            <a:r>
              <a:rPr lang="en-US" altLang="zh-TW" sz="1050" b="1" dirty="0">
                <a:solidFill>
                  <a:srgbClr val="30B68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5/25</a:t>
            </a:r>
            <a:r>
              <a:rPr lang="zh-TW" altLang="en-US" sz="1050" b="1" dirty="0">
                <a:solidFill>
                  <a:srgbClr val="30B68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開始</a:t>
            </a:r>
            <a:r>
              <a:rPr lang="en-US" altLang="zh-TW" sz="1050" b="1" dirty="0">
                <a:solidFill>
                  <a:srgbClr val="30B68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AI</a:t>
            </a:r>
            <a:r>
              <a:rPr lang="zh-TW" altLang="en-US" sz="1050" b="1" dirty="0">
                <a:solidFill>
                  <a:srgbClr val="30B68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分析</a:t>
            </a:r>
            <a:endParaRPr lang="en-US" altLang="zh-TW" sz="1050" b="1" dirty="0">
              <a:solidFill>
                <a:srgbClr val="30B686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200"/>
              </a:lnSpc>
              <a:spcAft>
                <a:spcPts val="800"/>
              </a:spcAft>
            </a:pPr>
            <a:r>
              <a:rPr lang="en-US" altLang="zh-TW" sz="1050" dirty="0">
                <a:solidFill>
                  <a:srgbClr val="52514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6/26-7/21</a:t>
            </a:r>
            <a:r>
              <a:rPr lang="zh-TW" altLang="en-US" sz="1050" dirty="0">
                <a:solidFill>
                  <a:srgbClr val="52514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→ </a:t>
            </a:r>
            <a:r>
              <a:rPr lang="en-US" altLang="zh-TW" sz="1050" dirty="0">
                <a:solidFill>
                  <a:srgbClr val="52514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$317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892040"/>
            <a:ext cx="11155680" cy="1463040"/>
          </a:xfrm>
          <a:prstGeom prst="roundRect">
            <a:avLst>
              <a:gd name="adj" fmla="val 6000"/>
            </a:avLst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endParaRPr sz="1050">
              <a:solidFill>
                <a:srgbClr val="52514E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731520" y="50109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A78D6"/>
                </a:solidFill>
                <a:latin typeface="Microsoft JhengHei"/>
              </a:rPr>
              <a:t>其他策略細節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303520"/>
            <a:ext cx="5486400" cy="91685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lnSpc>
                <a:spcPct val="115000"/>
              </a:lnSpc>
              <a:spcAft>
                <a:spcPts val="800"/>
              </a:spcAft>
              <a:defRPr sz="1050">
                <a:solidFill>
                  <a:srgbClr val="52514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r>
              <a:rPr sz="1200" dirty="0"/>
              <a:t>● </a:t>
            </a:r>
            <a:r>
              <a:rPr sz="1200" dirty="0" err="1"/>
              <a:t>分析時併入姊妹案「景立方一期」受眾數據交叉比對</a:t>
            </a:r>
            <a:r>
              <a:rPr lang="zh-TW" altLang="en-US" sz="1200" dirty="0"/>
              <a:t>。</a:t>
            </a:r>
            <a:endParaRPr sz="1200" dirty="0"/>
          </a:p>
          <a:p>
            <a:r>
              <a:rPr sz="1200" dirty="0"/>
              <a:t>● </a:t>
            </a:r>
            <a:r>
              <a:rPr sz="1200" dirty="0" err="1"/>
              <a:t>依「成效最差</a:t>
            </a:r>
            <a:r>
              <a:rPr sz="1200" dirty="0"/>
              <a:t> vs </a:t>
            </a:r>
            <a:r>
              <a:rPr sz="1200" dirty="0" err="1"/>
              <a:t>最好」階段交叉比對，找出可複製</a:t>
            </a:r>
            <a:r>
              <a:rPr lang="zh-TW" altLang="en-US" sz="1200" dirty="0"/>
              <a:t>及排除</a:t>
            </a:r>
            <a:r>
              <a:rPr sz="1200" dirty="0" err="1"/>
              <a:t>的受眾邏輯</a:t>
            </a:r>
            <a:r>
              <a:rPr lang="zh-TW" altLang="en-US" sz="1200" dirty="0"/>
              <a:t>。</a:t>
            </a:r>
            <a:endParaRPr sz="1200" dirty="0"/>
          </a:p>
          <a:p>
            <a:r>
              <a:rPr sz="1200" dirty="0"/>
              <a:t>● </a:t>
            </a:r>
            <a:r>
              <a:rPr sz="1200" dirty="0" err="1"/>
              <a:t>素材未做系統性測試，主要沿用既有有效稿</a:t>
            </a:r>
            <a:r>
              <a:rPr lang="zh-TW" altLang="en-US" sz="1200" dirty="0"/>
              <a:t>面。</a:t>
            </a:r>
            <a:endParaRPr sz="1200" dirty="0"/>
          </a:p>
        </p:txBody>
      </p:sp>
      <p:sp>
        <p:nvSpPr>
          <p:cNvPr id="27" name="TextBox 26"/>
          <p:cNvSpPr txBox="1"/>
          <p:nvPr/>
        </p:nvSpPr>
        <p:spPr>
          <a:xfrm>
            <a:off x="6035040" y="5303520"/>
            <a:ext cx="5486400" cy="60189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lnSpc>
                <a:spcPct val="115000"/>
              </a:lnSpc>
              <a:spcAft>
                <a:spcPts val="800"/>
              </a:spcAft>
              <a:defRPr sz="1050">
                <a:solidFill>
                  <a:srgbClr val="52514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r>
              <a:rPr sz="1200" dirty="0"/>
              <a:t>● </a:t>
            </a:r>
            <a:r>
              <a:rPr sz="1200" dirty="0" err="1"/>
              <a:t>預算逐步從主粉專移轉到副粉專，拉高副粉專配比，提升名單量並降低CPL</a:t>
            </a:r>
            <a:r>
              <a:rPr lang="zh-TW" altLang="en-US" sz="1200" dirty="0"/>
              <a:t>。</a:t>
            </a:r>
            <a:endParaRPr sz="1200" dirty="0"/>
          </a:p>
          <a:p>
            <a:r>
              <a:rPr sz="1200" dirty="0"/>
              <a:t>● </a:t>
            </a:r>
            <a:r>
              <a:rPr sz="1200" dirty="0" err="1"/>
              <a:t>全案僅投放Meta（粉專</a:t>
            </a:r>
            <a:r>
              <a:rPr sz="1200" dirty="0"/>
              <a:t>），</a:t>
            </a:r>
            <a:r>
              <a:rPr sz="1200" dirty="0" err="1"/>
              <a:t>未跨其他媒體管道</a:t>
            </a:r>
            <a:r>
              <a:rPr lang="zh-TW" altLang="en-US" sz="1200" dirty="0"/>
              <a:t>。</a:t>
            </a:r>
            <a:endParaRPr sz="1200" dirty="0"/>
          </a:p>
        </p:txBody>
      </p:sp>
      <p:sp>
        <p:nvSpPr>
          <p:cNvPr id="28" name="TextBox 27"/>
          <p:cNvSpPr txBox="1"/>
          <p:nvPr/>
        </p:nvSpPr>
        <p:spPr>
          <a:xfrm>
            <a:off x="502920" y="6537960"/>
            <a:ext cx="54864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dirty="0">
                <a:solidFill>
                  <a:srgbClr val="898781"/>
                </a:solidFill>
                <a:latin typeface="Microsoft JhengHei"/>
              </a:rPr>
              <a:t>景立方層峰｜2026</a:t>
            </a:r>
            <a:r>
              <a:rPr lang="zh-TW" altLang="en-US" sz="900" dirty="0">
                <a:solidFill>
                  <a:srgbClr val="8B909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上半年</a:t>
            </a:r>
            <a:r>
              <a:rPr sz="900" b="0" i="0" dirty="0" err="1">
                <a:solidFill>
                  <a:srgbClr val="898781"/>
                </a:solidFill>
                <a:latin typeface="Microsoft JhengHei"/>
              </a:rPr>
              <a:t>成效精選案例</a:t>
            </a:r>
            <a:endParaRPr sz="900" b="0" i="0" dirty="0">
              <a:solidFill>
                <a:srgbClr val="898781"/>
              </a:solidFill>
              <a:latin typeface="Microsoft JhengHei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0972800" y="65379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98781"/>
                </a:solidFill>
                <a:latin typeface="Microsoft Jheng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502920" y="411480"/>
            <a:ext cx="640080" cy="640080"/>
          </a:xfrm>
          <a:prstGeom prst="ellipse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B0B0B"/>
                </a:solidFill>
                <a:latin typeface="Microsoft JhengHei"/>
              </a:rPr>
              <a:t>Before / After 成效呈現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8412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98781"/>
                </a:solidFill>
                <a:latin typeface="Microsoft JhengHei"/>
              </a:rPr>
              <a:t>主粉專 vs 副粉專 對照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234440"/>
            <a:ext cx="11292840" cy="0"/>
          </a:xfrm>
          <a:prstGeom prst="line">
            <a:avLst/>
          </a:prstGeom>
          <a:ln w="12700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Char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4189759"/>
              </p:ext>
            </p:extLst>
          </p:nvPr>
        </p:nvGraphicFramePr>
        <p:xfrm>
          <a:off x="502920" y="1463040"/>
          <a:ext cx="5120640" cy="1965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9520981"/>
              </p:ext>
            </p:extLst>
          </p:nvPr>
        </p:nvGraphicFramePr>
        <p:xfrm>
          <a:off x="5897880" y="1463040"/>
          <a:ext cx="5760720" cy="18467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61682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指標</a:t>
                      </a:r>
                    </a:p>
                  </a:txBody>
                  <a:tcPr anchor="ctr"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主粉專</a:t>
                      </a:r>
                    </a:p>
                  </a:txBody>
                  <a:tcPr anchor="ctr"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副粉專</a:t>
                      </a:r>
                    </a:p>
                  </a:txBody>
                  <a:tcPr anchor="ctr"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合計</a:t>
                      </a:r>
                      <a:endParaRPr sz="1200" b="1" dirty="0">
                        <a:solidFill>
                          <a:srgbClr val="FFFFFF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anchor="ctr">
                    <a:solidFill>
                      <a:srgbClr val="0B0B0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1682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52514E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花費</a:t>
                      </a:r>
                    </a:p>
                  </a:txBody>
                  <a:tcPr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0B0B0B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NT$3</a:t>
                      </a:r>
                      <a:r>
                        <a:rPr lang="en-US" altLang="zh-TW" sz="1200" b="0" dirty="0">
                          <a:solidFill>
                            <a:srgbClr val="0B0B0B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</a:t>
                      </a:r>
                      <a:r>
                        <a:rPr sz="1200" b="0" dirty="0">
                          <a:solidFill>
                            <a:srgbClr val="0B0B0B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</a:t>
                      </a:r>
                      <a:r>
                        <a:rPr lang="en-US" altLang="zh-TW" sz="1200" b="0" dirty="0">
                          <a:solidFill>
                            <a:srgbClr val="0B0B0B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707</a:t>
                      </a:r>
                      <a:endParaRPr sz="1200" b="0" dirty="0">
                        <a:solidFill>
                          <a:srgbClr val="0B0B0B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0B0B0B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NT$119,</a:t>
                      </a:r>
                      <a:r>
                        <a:rPr lang="en-US" altLang="zh-TW" sz="1200" b="0" dirty="0">
                          <a:solidFill>
                            <a:srgbClr val="0B0B0B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106</a:t>
                      </a:r>
                      <a:endParaRPr sz="1200" b="0" dirty="0">
                        <a:solidFill>
                          <a:srgbClr val="0B0B0B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0B0B0B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NT$15</a:t>
                      </a:r>
                      <a:r>
                        <a:rPr lang="en-US" altLang="zh-TW" sz="1200" b="1" dirty="0">
                          <a:solidFill>
                            <a:srgbClr val="0B0B0B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</a:t>
                      </a:r>
                      <a:r>
                        <a:rPr sz="1200" b="1" dirty="0">
                          <a:solidFill>
                            <a:srgbClr val="0B0B0B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</a:t>
                      </a:r>
                      <a:r>
                        <a:rPr lang="en-US" altLang="zh-TW" sz="1200" b="1" dirty="0">
                          <a:solidFill>
                            <a:srgbClr val="0B0B0B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813</a:t>
                      </a:r>
                      <a:endParaRPr sz="1200" b="1" dirty="0">
                        <a:solidFill>
                          <a:srgbClr val="0B0B0B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anchor="ctr">
                    <a:solidFill>
                      <a:srgbClr val="FCFC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1682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52514E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潛客數</a:t>
                      </a:r>
                    </a:p>
                  </a:txBody>
                  <a:tcPr anchor="ctr">
                    <a:solidFill>
                      <a:srgbClr val="F2F2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B0B0B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31 組</a:t>
                      </a:r>
                    </a:p>
                  </a:txBody>
                  <a:tcPr anchor="ctr">
                    <a:solidFill>
                      <a:srgbClr val="F2F2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B0B0B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312 組</a:t>
                      </a:r>
                    </a:p>
                  </a:txBody>
                  <a:tcPr anchor="ctr">
                    <a:solidFill>
                      <a:srgbClr val="F2F2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B0B0B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343 組</a:t>
                      </a:r>
                    </a:p>
                  </a:txBody>
                  <a:tcPr anchor="ctr">
                    <a:solidFill>
                      <a:srgbClr val="F2F2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1682"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52514E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CPL</a:t>
                      </a:r>
                    </a:p>
                  </a:txBody>
                  <a:tcPr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0B0B0B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NT$1,</a:t>
                      </a:r>
                      <a:r>
                        <a:rPr lang="en-US" altLang="zh-TW" sz="1200" b="0" dirty="0">
                          <a:solidFill>
                            <a:srgbClr val="0B0B0B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055</a:t>
                      </a:r>
                      <a:endParaRPr sz="1200" b="0" dirty="0">
                        <a:solidFill>
                          <a:srgbClr val="0B0B0B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0B0B0B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NT$3</a:t>
                      </a:r>
                      <a:r>
                        <a:rPr lang="en-US" altLang="zh-TW" sz="1200" b="0" dirty="0">
                          <a:solidFill>
                            <a:srgbClr val="0B0B0B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94</a:t>
                      </a:r>
                      <a:endParaRPr sz="1200" b="0" dirty="0">
                        <a:solidFill>
                          <a:srgbClr val="0B0B0B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anchor="ctr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0B0B0B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NT$4</a:t>
                      </a:r>
                      <a:r>
                        <a:rPr lang="en-US" altLang="zh-TW" sz="1200" b="1" dirty="0">
                          <a:solidFill>
                            <a:srgbClr val="0B0B0B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43</a:t>
                      </a:r>
                      <a:endParaRPr sz="1200" b="1" dirty="0">
                        <a:solidFill>
                          <a:srgbClr val="0B0B0B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anchor="ctr">
                    <a:solidFill>
                      <a:srgbClr val="FCFC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897880" y="3501363"/>
            <a:ext cx="5760720" cy="2844573"/>
          </a:xfrm>
          <a:prstGeom prst="roundRect">
            <a:avLst>
              <a:gd name="adj" fmla="val 6000"/>
            </a:avLst>
          </a:prstGeom>
          <a:solidFill>
            <a:srgbClr val="EAF8F1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4" name="群組 13">
            <a:extLst>
              <a:ext uri="{FF2B5EF4-FFF2-40B4-BE49-F238E27FC236}">
                <a16:creationId xmlns:a16="http://schemas.microsoft.com/office/drawing/2014/main" id="{BE64C689-444C-4570-9BB1-1746318CECFB}"/>
              </a:ext>
            </a:extLst>
          </p:cNvPr>
          <p:cNvGrpSpPr/>
          <p:nvPr/>
        </p:nvGrpSpPr>
        <p:grpSpPr>
          <a:xfrm>
            <a:off x="6126480" y="3529154"/>
            <a:ext cx="5303520" cy="2788989"/>
            <a:chOff x="6126480" y="3931920"/>
            <a:chExt cx="5303520" cy="2788989"/>
          </a:xfrm>
        </p:grpSpPr>
        <p:sp>
          <p:nvSpPr>
            <p:cNvPr id="10" name="TextBox 9"/>
            <p:cNvSpPr txBox="1"/>
            <p:nvPr/>
          </p:nvSpPr>
          <p:spPr>
            <a:xfrm>
              <a:off x="6126480" y="3931920"/>
              <a:ext cx="5303520" cy="3200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sz="1300" b="1" i="0" dirty="0" err="1">
                  <a:solidFill>
                    <a:srgbClr val="1BAF7A"/>
                  </a:solidFill>
                  <a:latin typeface="Microsoft JhengHei"/>
                </a:rPr>
                <a:t>副粉專最強受眾組</a:t>
              </a:r>
              <a:endParaRPr sz="1300" b="1" i="0" dirty="0">
                <a:solidFill>
                  <a:srgbClr val="1BAF7A"/>
                </a:solidFill>
                <a:latin typeface="Microsoft JhengHei"/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126480" y="4199065"/>
              <a:ext cx="5303520" cy="25218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15000"/>
                </a:lnSpc>
                <a:spcAft>
                  <a:spcPts val="600"/>
                </a:spcAft>
              </a:pPr>
              <a:r>
                <a:rPr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● </a:t>
              </a:r>
              <a:r>
                <a:rPr lang="zh-TW" altLang="en-US"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副粉專初期成效最佳受眾</a:t>
              </a:r>
              <a:r>
                <a:rPr lang="en-US" altLang="zh-TW"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(4/10-5/9)</a:t>
              </a:r>
              <a:r>
                <a:rPr lang="zh-TW" altLang="en-US"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，共</a:t>
              </a:r>
              <a:r>
                <a:rPr lang="en-US" altLang="zh-TW"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151</a:t>
              </a:r>
              <a:r>
                <a:rPr lang="zh-TW" altLang="en-US"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筆</a:t>
              </a:r>
              <a:endParaRPr lang="en-US" altLang="zh-TW" sz="1050" dirty="0">
                <a:solidFill>
                  <a:srgbClr val="52514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  <a:p>
              <a:pPr>
                <a:lnSpc>
                  <a:spcPct val="115000"/>
                </a:lnSpc>
                <a:spcAft>
                  <a:spcPts val="600"/>
                </a:spcAft>
              </a:pPr>
              <a:r>
                <a:rPr lang="en-US" altLang="zh-TW"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&gt;28-55/</a:t>
              </a:r>
              <a:r>
                <a:rPr lang="zh-TW" altLang="en-US"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南興公園</a:t>
              </a:r>
              <a:r>
                <a:rPr lang="en-US" altLang="zh-TW"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+6/</a:t>
              </a:r>
              <a:r>
                <a:rPr lang="zh-TW" altLang="en-US"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科技新貴</a:t>
              </a:r>
              <a:r>
                <a:rPr lang="en-US" altLang="zh-TW"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/</a:t>
              </a:r>
              <a:r>
                <a:rPr lang="zh-TW" altLang="en-US"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旅遊：</a:t>
              </a:r>
              <a:r>
                <a:rPr lang="en-US" altLang="zh-TW"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CPL</a:t>
              </a:r>
              <a:r>
                <a:rPr lang="zh-TW" altLang="en-US"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</a:t>
              </a:r>
              <a:r>
                <a:rPr lang="en-US" altLang="zh-TW"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NT$153</a:t>
              </a:r>
              <a:r>
                <a:rPr lang="zh-TW" altLang="en-US"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，</a:t>
              </a:r>
              <a:r>
                <a:rPr lang="en-US" altLang="zh-TW"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40</a:t>
              </a:r>
              <a:r>
                <a:rPr lang="zh-TW" altLang="en-US"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筆</a:t>
              </a:r>
              <a:endParaRPr lang="en-US" altLang="zh-TW" sz="1050" dirty="0">
                <a:solidFill>
                  <a:srgbClr val="52514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  <a:p>
              <a:pPr>
                <a:lnSpc>
                  <a:spcPct val="115000"/>
                </a:lnSpc>
                <a:spcAft>
                  <a:spcPts val="600"/>
                </a:spcAft>
              </a:pPr>
              <a:r>
                <a:rPr lang="en-US" altLang="zh-TW"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&gt;</a:t>
              </a:r>
              <a:r>
                <a:rPr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30-65/南興公園+6/</a:t>
              </a:r>
              <a:r>
                <a:rPr sz="1050" dirty="0" err="1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父母成家興趣：CPL</a:t>
              </a:r>
              <a:r>
                <a:rPr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NT$1</a:t>
              </a:r>
              <a:r>
                <a:rPr lang="en-US" altLang="zh-TW"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34</a:t>
              </a:r>
              <a:r>
                <a:rPr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，</a:t>
              </a:r>
              <a:r>
                <a:rPr lang="en-US" altLang="zh-TW"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38</a:t>
              </a:r>
              <a:r>
                <a:rPr lang="zh-TW" altLang="en-US"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筆</a:t>
              </a:r>
              <a:endParaRPr lang="en-US" altLang="zh-TW" sz="1050" dirty="0">
                <a:solidFill>
                  <a:srgbClr val="52514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  <a:p>
              <a:pPr>
                <a:lnSpc>
                  <a:spcPct val="115000"/>
                </a:lnSpc>
                <a:spcAft>
                  <a:spcPts val="600"/>
                </a:spcAft>
              </a:pPr>
              <a:r>
                <a:rPr lang="en-US" altLang="zh-TW"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&gt;</a:t>
              </a:r>
              <a:r>
                <a:rPr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30-65/南興公園+6/</a:t>
              </a:r>
              <a:r>
                <a:rPr sz="1050" dirty="0" err="1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金融投資：CPL</a:t>
              </a:r>
              <a:r>
                <a:rPr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NT$25</a:t>
              </a:r>
              <a:r>
                <a:rPr lang="en-US" altLang="zh-TW"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4</a:t>
              </a:r>
              <a:r>
                <a:rPr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，2</a:t>
              </a:r>
              <a:r>
                <a:rPr lang="en-US" altLang="zh-TW"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1</a:t>
              </a:r>
              <a:r>
                <a:rPr lang="zh-TW" altLang="en-US"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筆</a:t>
              </a:r>
              <a:endParaRPr sz="1050" dirty="0">
                <a:solidFill>
                  <a:srgbClr val="52514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  <a:p>
              <a:pPr>
                <a:lnSpc>
                  <a:spcPct val="115000"/>
                </a:lnSpc>
                <a:spcAft>
                  <a:spcPts val="600"/>
                </a:spcAft>
              </a:pPr>
              <a:r>
                <a:rPr sz="1050" b="1" i="1" dirty="0">
                  <a:solidFill>
                    <a:srgbClr val="2A78D6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3組合計貢獻約</a:t>
              </a:r>
              <a:r>
                <a:rPr lang="en-US" altLang="zh-TW" sz="1050" b="1" i="1" dirty="0">
                  <a:solidFill>
                    <a:srgbClr val="2A78D6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65</a:t>
              </a:r>
              <a:r>
                <a:rPr sz="1050" b="1" i="1" dirty="0">
                  <a:solidFill>
                    <a:srgbClr val="2A78D6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%的</a:t>
              </a:r>
              <a:r>
                <a:rPr lang="zh-TW" altLang="en-US" sz="1050" b="1" i="1" dirty="0">
                  <a:solidFill>
                    <a:srgbClr val="2A78D6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名單數</a:t>
              </a:r>
              <a:endParaRPr sz="1050" b="1" i="1" dirty="0">
                <a:solidFill>
                  <a:srgbClr val="2A78D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  <a:p>
              <a:pPr>
                <a:spcAft>
                  <a:spcPts val="600"/>
                </a:spcAft>
              </a:pPr>
              <a:r>
                <a:rPr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● </a:t>
              </a:r>
              <a:r>
                <a:rPr lang="en-US" altLang="zh-TW"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5/25-7/21</a:t>
              </a:r>
              <a:r>
                <a:rPr lang="zh-TW" altLang="en-US"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共</a:t>
              </a:r>
              <a:r>
                <a:rPr lang="en-US" altLang="zh-TW"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122</a:t>
              </a:r>
              <a:r>
                <a:rPr lang="zh-TW" altLang="en-US"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筆，</a:t>
              </a:r>
              <a:r>
                <a:rPr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Claude在5/25後建議的</a:t>
              </a:r>
              <a:r>
                <a:rPr lang="en-US" altLang="zh-TW"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20</a:t>
              </a:r>
              <a:r>
                <a:rPr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組受眾，合計貢獻9</a:t>
              </a:r>
              <a:r>
                <a:rPr lang="en-US" altLang="zh-TW"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5</a:t>
              </a:r>
              <a:r>
                <a:rPr lang="zh-TW" altLang="en-US"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筆</a:t>
              </a:r>
              <a:endParaRPr lang="en-US" altLang="zh-TW" sz="1050" dirty="0">
                <a:solidFill>
                  <a:srgbClr val="52514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  <a:p>
              <a:pPr>
                <a:spcAft>
                  <a:spcPts val="600"/>
                </a:spcAft>
              </a:pPr>
              <a:r>
                <a:rPr lang="en-US" altLang="zh-TW"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&gt;28-55/</a:t>
              </a:r>
              <a:r>
                <a:rPr lang="zh-TW" altLang="en-US"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中科逢甲</a:t>
              </a:r>
              <a:r>
                <a:rPr lang="en-US" altLang="zh-TW"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/</a:t>
              </a:r>
              <a:r>
                <a:rPr lang="zh-TW" altLang="en-US"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置產客</a:t>
              </a:r>
              <a:r>
                <a:rPr lang="en-US" altLang="zh-TW"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/</a:t>
              </a:r>
              <a:r>
                <a:rPr lang="zh-TW" altLang="en-US"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自營商</a:t>
              </a:r>
              <a:r>
                <a:rPr lang="en-US" altLang="zh-TW"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/</a:t>
              </a:r>
              <a:r>
                <a:rPr lang="zh-TW" altLang="en-US"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高收職業：</a:t>
              </a:r>
              <a:r>
                <a:rPr lang="en-US" altLang="zh-TW"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CPL NT$301</a:t>
              </a:r>
              <a:r>
                <a:rPr lang="zh-TW" altLang="en-US"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，</a:t>
              </a:r>
              <a:r>
                <a:rPr lang="en-US" altLang="zh-TW"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11</a:t>
              </a:r>
              <a:r>
                <a:rPr lang="zh-TW" altLang="en-US"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筆</a:t>
              </a:r>
              <a:endParaRPr lang="en-US" altLang="zh-TW" sz="1050" dirty="0">
                <a:solidFill>
                  <a:srgbClr val="52514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  <a:p>
              <a:pPr>
                <a:spcAft>
                  <a:spcPts val="600"/>
                </a:spcAft>
              </a:pPr>
              <a:r>
                <a:rPr lang="en-US" altLang="zh-TW"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&gt;35-60/</a:t>
              </a:r>
              <a:r>
                <a:rPr lang="zh-TW" altLang="en-US"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中科</a:t>
              </a:r>
              <a:r>
                <a:rPr lang="en-US" altLang="zh-TW"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/</a:t>
              </a:r>
              <a:r>
                <a:rPr lang="zh-TW" altLang="en-US"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主管</a:t>
              </a:r>
              <a:r>
                <a:rPr lang="en-US" altLang="zh-TW"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/</a:t>
              </a:r>
              <a:r>
                <a:rPr lang="zh-TW" altLang="en-US"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旅遊</a:t>
              </a:r>
              <a:r>
                <a:rPr lang="en-US" altLang="zh-TW"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/</a:t>
              </a:r>
              <a:r>
                <a:rPr lang="zh-TW" altLang="en-US"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投資置產：</a:t>
              </a:r>
              <a:r>
                <a:rPr lang="en-US" altLang="zh-TW"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CPL NT$374</a:t>
              </a:r>
              <a:r>
                <a:rPr lang="zh-TW" altLang="en-US"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，</a:t>
              </a:r>
              <a:r>
                <a:rPr lang="en-US" altLang="zh-TW"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11</a:t>
              </a:r>
              <a:r>
                <a:rPr lang="zh-TW" altLang="en-US"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筆</a:t>
              </a:r>
              <a:endParaRPr lang="en-US" altLang="zh-TW" sz="1050" dirty="0">
                <a:solidFill>
                  <a:srgbClr val="52514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  <a:p>
              <a:pPr>
                <a:spcAft>
                  <a:spcPts val="600"/>
                </a:spcAft>
              </a:pPr>
              <a:r>
                <a:rPr lang="en-US" altLang="zh-TW"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&gt;</a:t>
              </a:r>
              <a:r>
                <a:rPr sz="1050" dirty="0" err="1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CPL最低</a:t>
              </a:r>
              <a:r>
                <a:rPr lang="zh-TW" altLang="en-US"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：中科逢甲</a:t>
              </a:r>
              <a:r>
                <a:rPr lang="en-US" altLang="zh-TW"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/</a:t>
              </a:r>
              <a:r>
                <a:rPr lang="zh-TW" altLang="en-US"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金融服務</a:t>
              </a:r>
              <a:r>
                <a:rPr lang="en-US" altLang="zh-TW"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/</a:t>
              </a:r>
              <a:r>
                <a:rPr lang="zh-TW" altLang="en-US"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電動車：</a:t>
              </a:r>
              <a:r>
                <a:rPr lang="en-US" altLang="zh-TW"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CPL NT$243</a:t>
              </a:r>
              <a:r>
                <a:rPr lang="zh-TW" altLang="en-US"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，</a:t>
              </a:r>
              <a:r>
                <a:rPr lang="en-US" altLang="zh-TW"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9</a:t>
              </a:r>
              <a:r>
                <a:rPr lang="zh-TW" altLang="en-US" sz="1050" dirty="0">
                  <a:solidFill>
                    <a:srgbClr val="52514E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筆</a:t>
              </a:r>
              <a:endParaRPr lang="en-US" altLang="zh-TW" sz="1050" dirty="0">
                <a:solidFill>
                  <a:srgbClr val="52514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  <a:p>
              <a:pPr>
                <a:spcAft>
                  <a:spcPts val="600"/>
                </a:spcAft>
              </a:pPr>
              <a:r>
                <a:rPr lang="en-US" altLang="zh-TW" sz="1050" b="1" i="1" dirty="0">
                  <a:solidFill>
                    <a:srgbClr val="2A78D6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Claude</a:t>
              </a:r>
              <a:r>
                <a:rPr lang="zh-TW" altLang="en-US" sz="1050" b="1" i="1" dirty="0">
                  <a:solidFill>
                    <a:srgbClr val="2A78D6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合計貢獻約</a:t>
              </a:r>
              <a:r>
                <a:rPr lang="en-US" altLang="zh-TW" sz="1050" b="1" i="1" dirty="0">
                  <a:solidFill>
                    <a:srgbClr val="2A78D6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78%</a:t>
              </a:r>
              <a:r>
                <a:rPr lang="zh-TW" altLang="en-US" sz="1050" b="1" i="1" dirty="0">
                  <a:solidFill>
                    <a:srgbClr val="2A78D6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的名單數</a:t>
              </a:r>
            </a:p>
          </p:txBody>
        </p:sp>
      </p:grpSp>
      <p:sp>
        <p:nvSpPr>
          <p:cNvPr id="12" name="Rounded Rectangle 11"/>
          <p:cNvSpPr/>
          <p:nvPr/>
        </p:nvSpPr>
        <p:spPr>
          <a:xfrm>
            <a:off x="502920" y="3566160"/>
            <a:ext cx="5120640" cy="2788920"/>
          </a:xfrm>
          <a:prstGeom prst="roundRect">
            <a:avLst>
              <a:gd name="adj" fmla="val 6000"/>
            </a:avLst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" y="37033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A78D6"/>
                </a:solidFill>
                <a:latin typeface="Microsoft JhengHei"/>
              </a:rPr>
              <a:t>副粉專 CPL 週期趨勢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537960"/>
            <a:ext cx="54864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dirty="0">
                <a:solidFill>
                  <a:srgbClr val="898781"/>
                </a:solidFill>
                <a:latin typeface="Microsoft JhengHei"/>
              </a:rPr>
              <a:t>景立方層峰｜2026</a:t>
            </a:r>
            <a:r>
              <a:rPr lang="zh-TW" altLang="en-US" sz="900" dirty="0">
                <a:solidFill>
                  <a:srgbClr val="8B909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上半年</a:t>
            </a:r>
            <a:r>
              <a:rPr sz="900" b="0" i="0" dirty="0" err="1">
                <a:solidFill>
                  <a:srgbClr val="898781"/>
                </a:solidFill>
                <a:latin typeface="Microsoft JhengHei"/>
              </a:rPr>
              <a:t>成效精選案例</a:t>
            </a:r>
            <a:endParaRPr sz="900" b="0" i="0" dirty="0">
              <a:solidFill>
                <a:srgbClr val="898781"/>
              </a:solidFill>
              <a:latin typeface="Microsoft JhengHe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0972800" y="65379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98781"/>
                </a:solidFill>
                <a:latin typeface="Microsoft JhengHei"/>
              </a:rPr>
              <a:t>5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640080" y="4041648"/>
          <a:ext cx="4846320" cy="2057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640080" y="6126480"/>
            <a:ext cx="484632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i="1">
                <a:solidFill>
                  <a:srgbClr val="8B909A"/>
                </a:solidFill>
                <a:latin typeface="Microsoft JhengHei"/>
              </a:rPr>
              <a:t>5/25 導入 Claude 分析受眾成效後，CPL 由 $692 回落至 $317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502920" y="411480"/>
            <a:ext cx="640080" cy="640080"/>
          </a:xfrm>
          <a:prstGeom prst="ellipse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B0B0B"/>
                </a:solidFill>
                <a:latin typeface="Microsoft JhengHei"/>
              </a:rPr>
              <a:t>3個數據洞察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8412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98781"/>
                </a:solidFill>
                <a:latin typeface="Microsoft JhengHei"/>
              </a:rPr>
              <a:t>Data Insights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234440"/>
            <a:ext cx="11292840" cy="0"/>
          </a:xfrm>
          <a:prstGeom prst="line">
            <a:avLst/>
          </a:prstGeom>
          <a:ln w="12700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02920" y="1508760"/>
            <a:ext cx="11155680" cy="1371600"/>
          </a:xfrm>
          <a:prstGeom prst="roundRect">
            <a:avLst>
              <a:gd name="adj" fmla="val 6000"/>
            </a:avLst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A78D6"/>
                </a:solidFill>
                <a:latin typeface="Microsoft JhengHei"/>
              </a:rPr>
              <a:t>洞察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384048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dirty="0" err="1">
                <a:solidFill>
                  <a:srgbClr val="0B0B0B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主粉專本身</a:t>
            </a:r>
            <a:r>
              <a:rPr lang="zh-TW" altLang="en-US" sz="1500" b="1" i="0" dirty="0">
                <a:solidFill>
                  <a:srgbClr val="0B0B0B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成效</a:t>
            </a:r>
            <a:r>
              <a:rPr sz="1500" b="1" i="0" dirty="0" err="1">
                <a:solidFill>
                  <a:srgbClr val="0B0B0B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未改善</a:t>
            </a:r>
            <a:endParaRPr sz="1500" b="1" i="0" dirty="0">
              <a:solidFill>
                <a:srgbClr val="0B0B0B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754880" y="169164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150" dirty="0">
                <a:solidFill>
                  <a:srgbClr val="52514E"/>
                </a:solidFill>
                <a:latin typeface="Microsoft JhengHei"/>
              </a:rPr>
              <a:t>● 早期（04/09前上線）CPL NT$1,174 vs </a:t>
            </a:r>
            <a:r>
              <a:rPr sz="1150" dirty="0" err="1">
                <a:solidFill>
                  <a:srgbClr val="52514E"/>
                </a:solidFill>
                <a:latin typeface="Microsoft JhengHei"/>
              </a:rPr>
              <a:t>後期上線組</a:t>
            </a:r>
            <a:r>
              <a:rPr sz="1150" dirty="0">
                <a:solidFill>
                  <a:srgbClr val="52514E"/>
                </a:solidFill>
                <a:latin typeface="Microsoft JhengHei"/>
              </a:rPr>
              <a:t> CPL NT$1,168，幾乎打平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150" dirty="0">
                <a:solidFill>
                  <a:srgbClr val="52514E"/>
                </a:solidFill>
                <a:latin typeface="Microsoft JhengHei"/>
              </a:rPr>
              <a:t>● </a:t>
            </a:r>
            <a:r>
              <a:rPr sz="1150" dirty="0" err="1">
                <a:solidFill>
                  <a:srgbClr val="52514E"/>
                </a:solidFill>
                <a:latin typeface="Microsoft JhengHei"/>
              </a:rPr>
              <a:t>代表成效反轉的關鍵是「新開副粉專＋新受眾</a:t>
            </a:r>
            <a:r>
              <a:rPr sz="1150" dirty="0">
                <a:solidFill>
                  <a:srgbClr val="52514E"/>
                </a:solidFill>
                <a:latin typeface="Microsoft JhengHei"/>
              </a:rPr>
              <a:t>」，</a:t>
            </a:r>
            <a:r>
              <a:rPr sz="1150" dirty="0" err="1">
                <a:solidFill>
                  <a:srgbClr val="52514E"/>
                </a:solidFill>
                <a:latin typeface="Microsoft JhengHei"/>
              </a:rPr>
              <a:t>而非「主粉專優化</a:t>
            </a:r>
            <a:r>
              <a:rPr sz="1150" dirty="0">
                <a:solidFill>
                  <a:srgbClr val="52514E"/>
                </a:solidFill>
                <a:latin typeface="Microsoft JhengHei"/>
              </a:rPr>
              <a:t>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017520"/>
            <a:ext cx="11155680" cy="1371600"/>
          </a:xfrm>
          <a:prstGeom prst="roundRect">
            <a:avLst>
              <a:gd name="adj" fmla="val 6000"/>
            </a:avLst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31546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BAF7A"/>
                </a:solidFill>
                <a:latin typeface="Microsoft JhengHei"/>
              </a:rPr>
              <a:t>洞察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42900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B0B0B"/>
                </a:solidFill>
                <a:latin typeface="Microsoft JhengHei"/>
              </a:rPr>
              <a:t>單一受眾組貢獻不成比例的量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20040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150">
                <a:solidFill>
                  <a:srgbClr val="52514E"/>
                </a:solidFill>
                <a:latin typeface="Microsoft JhengHei"/>
              </a:rPr>
              <a:t>● 南興公園+6/父母成家興趣 一組貢獻副粉專 14% 的潛客量（43/312）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150">
                <a:solidFill>
                  <a:srgbClr val="52514E"/>
                </a:solidFill>
                <a:latin typeface="Microsoft JhengHei"/>
              </a:rPr>
              <a:t>● 換屋型／學區導向受眾是本案最強單點，而非分散打法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526280"/>
            <a:ext cx="11155680" cy="1371600"/>
          </a:xfrm>
          <a:prstGeom prst="roundRect">
            <a:avLst>
              <a:gd name="adj" fmla="val 6000"/>
            </a:avLst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31520" y="46634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898781"/>
                </a:solidFill>
                <a:latin typeface="Microsoft JhengHei"/>
              </a:rPr>
              <a:t>洞察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93776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B0B0B"/>
                </a:solidFill>
                <a:latin typeface="Microsoft JhengHei"/>
              </a:rPr>
              <a:t>待補充第三個洞察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47091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150" i="1">
                <a:solidFill>
                  <a:srgbClr val="B0741E"/>
                </a:solidFill>
                <a:latin typeface="Microsoft JhengHei"/>
              </a:rPr>
              <a:t>▶ 待補充：素材類型/版位/年齡層/時間點等面向，找出一個非直覺的現象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537960"/>
            <a:ext cx="54864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dirty="0">
                <a:solidFill>
                  <a:srgbClr val="898781"/>
                </a:solidFill>
                <a:latin typeface="Microsoft JhengHei"/>
              </a:rPr>
              <a:t>景立方層峰｜2026</a:t>
            </a:r>
            <a:r>
              <a:rPr lang="zh-TW" altLang="en-US" sz="900" dirty="0">
                <a:solidFill>
                  <a:srgbClr val="8B909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上半年</a:t>
            </a:r>
            <a:r>
              <a:rPr sz="900" b="0" i="0" dirty="0" err="1">
                <a:solidFill>
                  <a:srgbClr val="898781"/>
                </a:solidFill>
                <a:latin typeface="Microsoft JhengHei"/>
              </a:rPr>
              <a:t>成效精選案例</a:t>
            </a:r>
            <a:endParaRPr sz="900" b="0" i="0" dirty="0">
              <a:solidFill>
                <a:srgbClr val="898781"/>
              </a:solidFill>
              <a:latin typeface="Microsoft JhengHe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972800" y="65379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98781"/>
                </a:solidFill>
                <a:latin typeface="Microsoft Jheng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502920" y="411480"/>
            <a:ext cx="640080" cy="640080"/>
          </a:xfrm>
          <a:prstGeom prst="ellipse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JhengHei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B0B0B"/>
                </a:solidFill>
                <a:latin typeface="Microsoft JhengHei"/>
              </a:rPr>
              <a:t>本案檢討與未來改進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8412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98781"/>
                </a:solidFill>
                <a:latin typeface="Microsoft JhengHei"/>
              </a:rPr>
              <a:t>Retrospective &amp; Next Actions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234440"/>
            <a:ext cx="11292840" cy="0"/>
          </a:xfrm>
          <a:prstGeom prst="line">
            <a:avLst/>
          </a:prstGeom>
          <a:ln w="12700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02920" y="1417320"/>
            <a:ext cx="5440680" cy="4754880"/>
          </a:xfrm>
          <a:prstGeom prst="roundRect">
            <a:avLst>
              <a:gd name="adj" fmla="val 6000"/>
            </a:avLst>
          </a:prstGeom>
          <a:solidFill>
            <a:srgbClr val="FBF0EC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57276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D03B3B"/>
                </a:solidFill>
                <a:latin typeface="Microsoft JhengHei"/>
              </a:rPr>
              <a:t>檢討：如果重來一次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011680"/>
            <a:ext cx="49377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50" i="1">
                <a:solidFill>
                  <a:srgbClr val="B0741E"/>
                </a:solidFill>
                <a:latin typeface="Microsoft JhengHei"/>
              </a:rPr>
              <a:t>▶ 待補充：主粉專前4週CPL偏高（$1,171），是否能更早止損、提早導入核心受眾？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50" i="1">
                <a:solidFill>
                  <a:srgbClr val="B0741E"/>
                </a:solidFill>
                <a:latin typeface="Microsoft JhengHei"/>
              </a:rPr>
              <a:t>▶ 待補充：素材流速是否追得上受眾迭代速度？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50" i="1">
                <a:solidFill>
                  <a:srgbClr val="B0741E"/>
                </a:solidFill>
                <a:latin typeface="Microsoft JhengHei"/>
              </a:rPr>
              <a:t>▶ 待補充：受眾疲勞週期大約多久？是否有明確的換組時機點？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50" i="1">
                <a:solidFill>
                  <a:srgbClr val="B0741E"/>
                </a:solidFill>
                <a:latin typeface="Microsoft JhengHei"/>
              </a:rPr>
              <a:t>▶ 待補充：與客戶溝通上是否有落差（例：對潛銷期CPL的期待）？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17320"/>
            <a:ext cx="5440680" cy="4754880"/>
          </a:xfrm>
          <a:prstGeom prst="roundRect">
            <a:avLst>
              <a:gd name="adj" fmla="val 6000"/>
            </a:avLst>
          </a:prstGeom>
          <a:solidFill>
            <a:srgbClr val="EAF8F1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46520" y="157276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CA30C"/>
                </a:solidFill>
                <a:latin typeface="Microsoft JhengHei"/>
              </a:rPr>
              <a:t>未來優化行動方案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011680"/>
            <a:ext cx="49377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50">
                <a:solidFill>
                  <a:srgbClr val="52514E"/>
                </a:solidFill>
                <a:latin typeface="Microsoft JhengHei"/>
              </a:rPr>
              <a:t>● 延續「上傳成效→AI分析→受眾推送資料集→再測」SOP，縮短迭代週期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50">
                <a:solidFill>
                  <a:srgbClr val="52514E"/>
                </a:solidFill>
                <a:latin typeface="Microsoft JhengHei"/>
              </a:rPr>
              <a:t>● 以南興公園+6父母成家型受眾邏輯，複製到其他地理錨點（洲際、好市多）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50" i="1">
                <a:solidFill>
                  <a:srgbClr val="B0741E"/>
                </a:solidFill>
                <a:latin typeface="Microsoft JhengHei"/>
              </a:rPr>
              <a:t>▶ 待補充：其他具體行動項目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50" i="1">
                <a:solidFill>
                  <a:srgbClr val="B0741E"/>
                </a:solidFill>
                <a:latin typeface="Microsoft JhengHei"/>
              </a:rPr>
              <a:t>▶ 待補充：其他具體行動項目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537960"/>
            <a:ext cx="54864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dirty="0">
                <a:solidFill>
                  <a:srgbClr val="898781"/>
                </a:solidFill>
                <a:latin typeface="Microsoft JhengHei"/>
              </a:rPr>
              <a:t>景立方層峰｜2026</a:t>
            </a:r>
            <a:r>
              <a:rPr lang="zh-TW" altLang="en-US" sz="900" dirty="0">
                <a:solidFill>
                  <a:srgbClr val="8B909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上半年</a:t>
            </a:r>
            <a:r>
              <a:rPr sz="900" b="0" i="0" dirty="0" err="1">
                <a:solidFill>
                  <a:srgbClr val="898781"/>
                </a:solidFill>
                <a:latin typeface="Microsoft JhengHei"/>
              </a:rPr>
              <a:t>成效精選案例</a:t>
            </a:r>
            <a:endParaRPr sz="900" b="0" i="0" dirty="0">
              <a:solidFill>
                <a:srgbClr val="898781"/>
              </a:solidFill>
              <a:latin typeface="Microsoft JhengHe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972800" y="65379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98781"/>
                </a:solidFill>
                <a:latin typeface="Microsoft JhengHe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83464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FFFFFF"/>
                </a:solidFill>
                <a:latin typeface="Microsoft JhengHei"/>
              </a:rPr>
              <a:t>Q &amp;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49039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9EB8E8"/>
                </a:solidFill>
                <a:latin typeface="Microsoft JhengHei"/>
              </a:rPr>
              <a:t>景立方層峰｜2026 H1 成效精選案例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220</TotalTime>
  <Words>936</Words>
  <Application>Microsoft Office PowerPoint</Application>
  <PresentationFormat>寬螢幕</PresentationFormat>
  <Paragraphs>162</Paragraphs>
  <Slides>8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8</vt:i4>
      </vt:variant>
    </vt:vector>
  </HeadingPairs>
  <TitlesOfParts>
    <vt:vector size="13" baseType="lpstr">
      <vt:lpstr>Microsoft JhengHei</vt:lpstr>
      <vt:lpstr>Microsoft JhengHei</vt:lpstr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subject/>
  <dc:creator/>
  <cp:keywords/>
  <dc:description>generated using python-pptx</dc:description>
  <cp:lastModifiedBy>旻蓁Lia 鍾</cp:lastModifiedBy>
  <cp:revision>24</cp:revision>
  <dcterms:created xsi:type="dcterms:W3CDTF">2013-01-27T09:14:16Z</dcterms:created>
  <dcterms:modified xsi:type="dcterms:W3CDTF">2026-07-21T07:32:24Z</dcterms:modified>
  <cp:category/>
</cp:coreProperties>
</file>