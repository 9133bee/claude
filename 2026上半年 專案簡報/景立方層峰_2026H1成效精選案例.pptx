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0B0B"/>
                </a:solidFill>
              </a:rPr>
              <a:t>每組潛客成本 CPL 對照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CPL (NT$)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1BAF7A"/>
              </a:solidFill>
            </c:spPr>
          </c:dPt>
          <c:cat>
            <c:strRef>
              <c:f>Sheet1!$A$2:$A$3</c:f>
              <c:strCache>
                <c:ptCount val="2"/>
                <c:pt idx="0">
                  <c:v>主粉專
(Before)</c:v>
                </c:pt>
                <c:pt idx="1">
                  <c:v>副粉專
(After)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1171</c:v>
                </c:pt>
                <c:pt idx="1">
                  <c:v>387</c:v>
                </c:pt>
              </c:numCache>
            </c:numRef>
          </c:val>
        </c:ser>
        <c:dLbls>
          <c:numFmt formatCode="&quot;NT$&quot;#,##0" sourceLinked="0"/>
          <c:txPr>
            <a:bodyPr/>
            <a:lstStyle/>
            <a:p>
              <a:pPr>
                <a:defRPr sz="1400" b="1">
                  <a:solidFill>
                    <a:srgbClr val="0B0B0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EB8E8"/>
                </a:solidFill>
                <a:latin typeface="Microsoft JhengHei"/>
              </a:rPr>
              <a:t>2026 H1 成效精選案例分享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JhengHei"/>
              </a:rPr>
              <a:t>景立方層峰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7DDE8"/>
                </a:solidFill>
                <a:latin typeface="Microsoft JhengHei"/>
              </a:rPr>
              <a:t>潛銷期成效優化實錄：從單一粉專到雙粉專受眾迭代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EB8E8"/>
                </a:solidFill>
                <a:latin typeface="Microsoft JhengHei"/>
              </a:rPr>
              <a:t>操盤期間｜2026/03/12 – 2026/07/09（滿120天）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0741E"/>
                </a:solidFill>
                <a:latin typeface="Microsoft JhengHei"/>
              </a:rPr>
              <a:t>▶ 待補充：報告人姓名 / 部門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Microsoft JhengHei"/>
              </a:rPr>
              <a:t>簡報架構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727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5361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前情提要與成效核心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836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接手背景、120天累計成效亮點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963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整體執行策略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4378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主粉專→副粉專→核心受眾導入→受眾迭代循環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930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4564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Before / After 成效呈現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80390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主粉專 vs 副粉專 CPL 對照、關鍵受眾組表現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165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3個數據洞察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76402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從實測數據中發現的非直覺現象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132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Microsoft Jheng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3766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Microsoft JhengHei"/>
              </a:rPr>
              <a:t>本案檢討與未來改進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7241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98781"/>
                </a:solidFill>
                <a:latin typeface="Microsoft JhengHei"/>
              </a:rPr>
              <a:t>客觀覆盤 + 具體優化行動方案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景立方層峰｜2026 H1 成效精選案例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Microsoft JhengHei"/>
              </a:rPr>
              <a:t>前情提要與成效核心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Background &amp; Core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Microsoft JhengHei"/>
              </a:rPr>
              <a:t>建案基本資料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2514E"/>
                </a:solidFill>
                <a:latin typeface="Microsoft JhengHei"/>
              </a:rPr>
              <a:t>地點：台中市北屯區南興路 x 敦富一街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2514E"/>
                </a:solidFill>
                <a:latin typeface="Microsoft JhengHei"/>
              </a:rPr>
              <a:t>格局：三房36-37坪／四房42-44坪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2514E"/>
                </a:solidFill>
                <a:latin typeface="Microsoft JhengHei"/>
              </a:rPr>
              <a:t>廣告目標：名單（Lead）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2514E"/>
                </a:solidFill>
                <a:latin typeface="Microsoft JhengHei"/>
              </a:rPr>
              <a:t>案型：潛銷案，2029年上半年交屋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2514E"/>
                </a:solidFill>
                <a:latin typeface="Microsoft JhengHei"/>
              </a:rPr>
              <a:t>廣告帳號：主粉專＋副粉專 雙軌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Microsoft JhengHei"/>
              </a:rPr>
              <a:t>前情提要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潛銷案初期僅投放主粉專單一漏斗（03/12起跑）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內部目標：潛銷期 CPL 應壓在 NT$300 以下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50">
                <a:solidFill>
                  <a:srgbClr val="B0741E"/>
                </a:solidFill>
                <a:latin typeface="Microsoft JhengHei"/>
              </a:rPr>
              <a:t>▶ 待補充：客戶當時的具體壓力/痛點是什麼？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50">
                <a:solidFill>
                  <a:srgbClr val="B0741E"/>
                </a:solidFill>
                <a:latin typeface="Microsoft JhengHei"/>
              </a:rPr>
              <a:t>▶ 待補充：競品/區域市場當時的狀況？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727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Microsoft JhengHei"/>
              </a:rPr>
              <a:t>成效核心（120天累計）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CA30C"/>
                </a:solidFill>
                <a:latin typeface="Microsoft JhengHei"/>
              </a:rPr>
              <a:t>NT$463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Microsoft JhengHei"/>
              </a:rPr>
              <a:t>整體平均 CPL（合計）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07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CA30C"/>
                </a:solidFill>
                <a:latin typeface="Microsoft JhengHei"/>
              </a:rPr>
              <a:t>320 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64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Microsoft JhengHei"/>
              </a:rPr>
              <a:t>累計潛客數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484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CA30C"/>
                </a:solidFill>
                <a:latin typeface="Microsoft JhengHei"/>
              </a:rPr>
              <a:t>↓ 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056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Microsoft JhengHei"/>
              </a:rPr>
              <a:t>副粉專啟動後 CPL 降幅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11155680" cy="1417320"/>
          </a:xfrm>
          <a:prstGeom prst="roundRect">
            <a:avLst>
              <a:gd name="adj" fmla="val 6000"/>
            </a:avLst>
          </a:prstGeom>
          <a:solidFill>
            <a:srgbClr val="ECF3F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64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Microsoft JhengHei"/>
              </a:rPr>
              <a:t>本案最值得炫耀的一句話總結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300">
                <a:solidFill>
                  <a:srgbClr val="B0741E"/>
                </a:solidFill>
                <a:latin typeface="Microsoft JhengHei"/>
              </a:rPr>
              <a:t>▶ 待補充：用一句話總結本案最亮眼的成果（例：CPL從主粉專時期$1,171壓到副粉專$387，降幅67%，累計320組潛客）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景立方層峰｜2026 H1 成效精選案例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Microsoft JhengHei"/>
              </a:rPr>
              <a:t>整體執行策略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Strategy Timeline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Microsoft JhengHe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主粉專單一起跑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Microsoft JhengHei"/>
              </a:rPr>
              <a:t>03/12 – 04/08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潛銷期單一漏斗測試，23組受眾陸續上線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CPL 落在 NT$1,100+，遠高於NT$300目標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050">
                <a:solidFill>
                  <a:srgbClr val="B0741E"/>
                </a:solidFill>
                <a:latin typeface="Microsoft JhengHei"/>
              </a:rPr>
              <a:t>▶ 待補充：當時判斷成效普通的依據/決策點是？</a:t>
            </a:r>
          </a:p>
        </p:txBody>
      </p:sp>
      <p:sp>
        <p:nvSpPr>
          <p:cNvPr id="12" name="Chevron 11"/>
          <p:cNvSpPr/>
          <p:nvPr/>
        </p:nvSpPr>
        <p:spPr>
          <a:xfrm>
            <a:off x="4178808" y="2743200"/>
            <a:ext cx="109728" cy="274320"/>
          </a:xfrm>
          <a:prstGeom prst="chevron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AF7A"/>
                </a:solidFill>
                <a:latin typeface="Microsoft JhengHe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105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加開副粉專＋核心受眾導入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Microsoft JhengHei"/>
              </a:rPr>
              <a:t>04/09 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33472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開通副粉專，同步導入「6大核心受眾」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核心受眾來自主管以META數據做AI分析歸納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南興公園+6父母成家興趣等組別 CPL 降至$160-300</a:t>
            </a:r>
          </a:p>
        </p:txBody>
      </p:sp>
      <p:sp>
        <p:nvSpPr>
          <p:cNvPr id="18" name="Chevron 17"/>
          <p:cNvSpPr/>
          <p:nvPr/>
        </p:nvSpPr>
        <p:spPr>
          <a:xfrm>
            <a:off x="7973568" y="2743200"/>
            <a:ext cx="109728" cy="274320"/>
          </a:xfrm>
          <a:prstGeom prst="chevron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1417320"/>
            <a:ext cx="3657600" cy="32461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0B0B"/>
                </a:solidFill>
                <a:latin typeface="Microsoft JhengHe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105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0B0B"/>
                </a:solidFill>
                <a:latin typeface="Microsoft JhengHei"/>
              </a:rPr>
              <a:t>受眾迭代循環（SOP化）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Microsoft JhengHei"/>
              </a:rPr>
              <a:t>持續進行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33472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上傳受眾成效數據 → AI分析 → 建議新受眾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建議受眾推上資料集 → 抓取套用 → 再測試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52514E"/>
                </a:solidFill>
                <a:latin typeface="Microsoft JhengHei"/>
              </a:rPr>
              <a:t>● 副粉專CPL穩定在NT$387左右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10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Microsoft JhengHei"/>
              </a:rPr>
              <a:t>其他策略細節（待補）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00">
                <a:solidFill>
                  <a:srgbClr val="B0741E"/>
                </a:solidFill>
                <a:latin typeface="Microsoft JhengHei"/>
              </a:rPr>
              <a:t>▶ 待補充：受眾漏斗佈局（新客/再行銷比例）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00">
                <a:solidFill>
                  <a:srgbClr val="B0741E"/>
                </a:solidFill>
                <a:latin typeface="Microsoft JhengHei"/>
              </a:rPr>
              <a:t>▶ 待補充：素材與文案測試邏輯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3035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00">
                <a:solidFill>
                  <a:srgbClr val="B0741E"/>
                </a:solidFill>
                <a:latin typeface="Microsoft JhengHei"/>
              </a:rPr>
              <a:t>▶ 待補充：預算分配的動態調整方式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00">
                <a:solidFill>
                  <a:srgbClr val="B0741E"/>
                </a:solidFill>
                <a:latin typeface="Microsoft JhengHei"/>
              </a:rPr>
              <a:t>▶ 待補充：媒體管道組合（是否只有Meta）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景立方層峰｜2026 H1 成效精選案例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Microsoft JhengHei"/>
              </a:rPr>
              <a:t>Before / After 成效呈現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主粉專 vs 副粉專 對照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463040"/>
          <a:ext cx="51206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14630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463040"/>
                <a:gridCol w="1463040"/>
              </a:tblGrid>
              <a:tr h="5715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主粉專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副粉專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</a:rPr>
                        <a:t>花費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</a:rPr>
                        <a:t>NT$36,316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</a:rPr>
                        <a:t>NT$111,747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</a:rPr>
                        <a:t>NT$148,063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</a:rPr>
                        <a:t>潛客數</a:t>
                      </a:r>
                    </a:p>
                  </a:txBody>
                  <a:tcPr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</a:rPr>
                        <a:t>31 組</a:t>
                      </a:r>
                    </a:p>
                  </a:txBody>
                  <a:tcPr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</a:rPr>
                        <a:t>289 組</a:t>
                      </a:r>
                    </a:p>
                  </a:txBody>
                  <a:tcPr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</a:rPr>
                        <a:t>320 組</a:t>
                      </a:r>
                    </a:p>
                  </a:txBody>
                  <a:tcPr>
                    <a:solidFill>
                      <a:srgbClr val="F2F2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2514E"/>
                          </a:solidFill>
                        </a:rPr>
                        <a:t>CPL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</a:rPr>
                        <a:t>NT$1,171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</a:rPr>
                        <a:t>NT$387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0B0B"/>
                          </a:solidFill>
                        </a:rPr>
                        <a:t>NT$463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897880" y="3931920"/>
            <a:ext cx="5760720" cy="2377440"/>
          </a:xfrm>
          <a:prstGeom prst="roundRect">
            <a:avLst>
              <a:gd name="adj" fmla="val 6000"/>
            </a:avLst>
          </a:prstGeom>
          <a:solidFill>
            <a:srgbClr val="EAF8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069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Microsoft JhengHei"/>
              </a:rPr>
              <a:t>副粉專最強受眾組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4348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30-65 / 南興公園+6 / 父母成家興趣：CPL NT$160，43組潛客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28-55 / 南興公園+6 / 科技新貴・旅遊：CPL NT$188，43組潛客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30-65 / 南興公園+6 / 置產・醫師・高管：CPL NT$202，16組潛客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這3組合計貢獻副粉專約36%的潛客量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377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Microsoft JhengHei"/>
              </a:rPr>
              <a:t>圖表補充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76672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00">
                <a:solidFill>
                  <a:srgbClr val="B0741E"/>
                </a:solidFill>
                <a:latin typeface="Microsoft JhengHei"/>
              </a:rPr>
              <a:t>▶ 待補充：若有每週趨勢折線圖可補充在此區塊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景立方層峰｜2026 H1 成效精選案例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Microsoft JhengHei"/>
              </a:rPr>
              <a:t>3個數據洞察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Data Insights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50876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Microsoft JhengHei"/>
              </a:rPr>
              <a:t>洞察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Microsoft JhengHei"/>
              </a:rPr>
              <a:t>主粉專本身從未真正改善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早期（04/09前上線）CPL NT$1,174 vs 後期上線組 CPL NT$1,168，幾乎打平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代表成效反轉的關鍵是「新開副粉專＋新受眾」，而非「主粉專優化」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752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AF7A"/>
                </a:solidFill>
                <a:latin typeface="Microsoft JhengHei"/>
              </a:rPr>
              <a:t>洞察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Microsoft JhengHei"/>
              </a:rPr>
              <a:t>單一受眾組貢獻不成比例的量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004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南興公園+6/父母成家興趣 一組貢獻副粉專 15% 的潛客量（43/289）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52514E"/>
                </a:solidFill>
                <a:latin typeface="Microsoft JhengHei"/>
              </a:rPr>
              <a:t>● 換屋型／學區導向受眾是本案最強單點，而非分散打法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98781"/>
                </a:solidFill>
                <a:latin typeface="Microsoft JhengHei"/>
              </a:rPr>
              <a:t>洞察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Microsoft JhengHei"/>
              </a:rPr>
              <a:t>待補充第三個洞察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7091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150">
                <a:solidFill>
                  <a:srgbClr val="B0741E"/>
                </a:solidFill>
                <a:latin typeface="Microsoft JhengHei"/>
              </a:rPr>
              <a:t>▶ 待補充：素材類型/版位/年齡層/時間點等面向，找出一個非直覺的現象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景立方層峰｜2026 H1 成效精選案例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Microsoft JhengHei"/>
              </a:rPr>
              <a:t>本案檢討與未來改進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41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Microsoft JhengHei"/>
              </a:rPr>
              <a:t>Retrospective &amp; Next Actions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34440"/>
            <a:ext cx="11292840" cy="0"/>
          </a:xfrm>
          <a:prstGeom prst="line">
            <a:avLst/>
          </a:prstGeom>
          <a:ln w="127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FBF0E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03B3B"/>
                </a:solidFill>
                <a:latin typeface="Microsoft JhengHei"/>
              </a:rPr>
              <a:t>檢討：如果重來一次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250">
                <a:solidFill>
                  <a:srgbClr val="B0741E"/>
                </a:solidFill>
                <a:latin typeface="Microsoft JhengHei"/>
              </a:rPr>
              <a:t>▶ 待補充：主粉專前4週CPL偏高（$1,171），是否能更早止損、提早導入核心受眾？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250">
                <a:solidFill>
                  <a:srgbClr val="B0741E"/>
                </a:solidFill>
                <a:latin typeface="Microsoft JhengHei"/>
              </a:rPr>
              <a:t>▶ 待補充：素材流速是否追得上受眾迭代速度？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250">
                <a:solidFill>
                  <a:srgbClr val="B0741E"/>
                </a:solidFill>
                <a:latin typeface="Microsoft JhengHei"/>
              </a:rPr>
              <a:t>▶ 待補充：受眾疲勞週期大約多久？是否有明確的換組時機點？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250">
                <a:solidFill>
                  <a:srgbClr val="B0741E"/>
                </a:solidFill>
                <a:latin typeface="Microsoft JhengHei"/>
              </a:rPr>
              <a:t>▶ 待補充：與客戶溝通上是否有落差（例：對潛銷期CPL的期待）？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4754880"/>
          </a:xfrm>
          <a:prstGeom prst="roundRect">
            <a:avLst>
              <a:gd name="adj" fmla="val 6000"/>
            </a:avLst>
          </a:prstGeom>
          <a:solidFill>
            <a:srgbClr val="EAF8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72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CA30C"/>
                </a:solidFill>
                <a:latin typeface="Microsoft JhengHei"/>
              </a:rPr>
              <a:t>未來優化行動方案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>
                <a:solidFill>
                  <a:srgbClr val="52514E"/>
                </a:solidFill>
                <a:latin typeface="Microsoft JhengHei"/>
              </a:rPr>
              <a:t>● 延續「上傳成效→AI分析→受眾推送資料集→再測」SOP，縮短迭代週期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>
                <a:solidFill>
                  <a:srgbClr val="52514E"/>
                </a:solidFill>
                <a:latin typeface="Microsoft JhengHei"/>
              </a:rPr>
              <a:t>● 以南興公園+6父母成家型受眾邏輯，複製到其他地理錨點（洲際、好市多）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250">
                <a:solidFill>
                  <a:srgbClr val="B0741E"/>
                </a:solidFill>
                <a:latin typeface="Microsoft JhengHei"/>
              </a:rPr>
              <a:t>▶ 待補充：其他具體行動項目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i="1" sz="1250">
                <a:solidFill>
                  <a:srgbClr val="B0741E"/>
                </a:solidFill>
                <a:latin typeface="Microsoft JhengHei"/>
              </a:rPr>
              <a:t>▶ 待補充：其他具體行動項目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景立方層峰｜2026 H1 成效精選案例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icrosoft JhengHei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EB8E8"/>
                </a:solidFill>
                <a:latin typeface="Microsoft JhengHei"/>
              </a:rPr>
              <a:t>景立方層峰｜2026 H1 成效精選案例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